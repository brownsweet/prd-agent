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37b7b2123749c3" /><Relationship Type="http://schemas.openxmlformats.org/officeDocument/2006/relationships/extended-properties" Target="/docProps/app.xml" Id="Red2322d466044b8b" /><Relationship Type="http://schemas.openxmlformats.org/officeDocument/2006/relationships/officeDocument" Target="/ppt/presentation.xml" Id="R8d961d70791e4f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b33edd4c6c40f9"/>
  </p:sldMasterIdLst>
  <p:notesMasterIdLst>
    <p:notesMasterId xmlns:r="http://schemas.openxmlformats.org/officeDocument/2006/relationships" r:id="Ra4bc99d6438d4041"/>
  </p:notesMasterIdLst>
  <p:sldIdLst>
    <p:sldId xmlns:r="http://schemas.openxmlformats.org/officeDocument/2006/relationships" id="256" r:id="R3b87e7d475784e84"/>
    <p:sldId xmlns:r="http://schemas.openxmlformats.org/officeDocument/2006/relationships" id="257" r:id="R1e17249a86454107"/>
    <p:sldId xmlns:r="http://schemas.openxmlformats.org/officeDocument/2006/relationships" id="258" r:id="R713041e3821b4941"/>
    <p:sldId xmlns:r="http://schemas.openxmlformats.org/officeDocument/2006/relationships" id="259" r:id="R2b2c485b92f44523"/>
    <p:sldId xmlns:r="http://schemas.openxmlformats.org/officeDocument/2006/relationships" id="260" r:id="R5b97abcbff02470b"/>
    <p:sldId xmlns:r="http://schemas.openxmlformats.org/officeDocument/2006/relationships" id="261" r:id="R3f2f8e60803149d5"/>
    <p:sldId xmlns:r="http://schemas.openxmlformats.org/officeDocument/2006/relationships" id="262" r:id="Rb92881715429407e"/>
    <p:sldId xmlns:r="http://schemas.openxmlformats.org/officeDocument/2006/relationships" id="263" r:id="R172354e8550b478d"/>
    <p:sldId xmlns:r="http://schemas.openxmlformats.org/officeDocument/2006/relationships" id="264" r:id="Ra0ac7c9239c440aa"/>
    <p:sldId xmlns:r="http://schemas.openxmlformats.org/officeDocument/2006/relationships" id="265" r:id="R76e8cf32afdc40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1d8db3e802473a" /><Relationship Type="http://schemas.openxmlformats.org/officeDocument/2006/relationships/slideMaster" Target="/ppt/slideMasters/slideMaster1.xml" Id="R99b33edd4c6c40f9" /><Relationship Type="http://schemas.openxmlformats.org/officeDocument/2006/relationships/notesMaster" Target="/ppt/notesMasters/notesMaster1.xml" Id="Ra4bc99d6438d4041" /><Relationship Type="http://schemas.openxmlformats.org/officeDocument/2006/relationships/presProps" Target="/ppt/presProps.xml" Id="R53bf9b2f5aea4a84" /><Relationship Type="http://schemas.openxmlformats.org/officeDocument/2006/relationships/tableStyles" Target="/ppt/tableStyles.xml" Id="Rd51ef8f12d254dcc" /><Relationship Type="http://schemas.openxmlformats.org/officeDocument/2006/relationships/slide" Target="/ppt/slides/slide1.xml" Id="R3b87e7d475784e84" /><Relationship Type="http://schemas.openxmlformats.org/officeDocument/2006/relationships/slide" Target="/ppt/slides/slide2.xml" Id="R1e17249a86454107" /><Relationship Type="http://schemas.openxmlformats.org/officeDocument/2006/relationships/slide" Target="/ppt/slides/slide3.xml" Id="R713041e3821b4941" /><Relationship Type="http://schemas.openxmlformats.org/officeDocument/2006/relationships/slide" Target="/ppt/slides/slide4.xml" Id="R2b2c485b92f44523" /><Relationship Type="http://schemas.openxmlformats.org/officeDocument/2006/relationships/slide" Target="/ppt/slides/slide5.xml" Id="R5b97abcbff02470b" /><Relationship Type="http://schemas.openxmlformats.org/officeDocument/2006/relationships/slide" Target="/ppt/slides/slide6.xml" Id="R3f2f8e60803149d5" /><Relationship Type="http://schemas.openxmlformats.org/officeDocument/2006/relationships/slide" Target="/ppt/slides/slide7.xml" Id="Rb92881715429407e" /><Relationship Type="http://schemas.openxmlformats.org/officeDocument/2006/relationships/slide" Target="/ppt/slides/slide8.xml" Id="R172354e8550b478d" /><Relationship Type="http://schemas.openxmlformats.org/officeDocument/2006/relationships/slide" Target="/ppt/slides/slide9.xml" Id="Ra0ac7c9239c440aa" /><Relationship Type="http://schemas.openxmlformats.org/officeDocument/2006/relationships/slide" Target="/ppt/slides/slide10.xml" Id="R76e8cf32afdc40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0700afe2174f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cd46cbbacd469c" /><Relationship Type="http://schemas.openxmlformats.org/officeDocument/2006/relationships/notesMaster" Target="/ppt/notesMasters/notesMaster1.xml" Id="R53d9d053629d47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fa2f53f2024efc" /><Relationship Type="http://schemas.openxmlformats.org/officeDocument/2006/relationships/notesMaster" Target="/ppt/notesMasters/notesMaster1.xml" Id="R3eb6ec1b5f0943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95b34eafb14e8f" /><Relationship Type="http://schemas.openxmlformats.org/officeDocument/2006/relationships/notesMaster" Target="/ppt/notesMasters/notesMaster1.xml" Id="R3641575a8efa41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cd5b43dcf34229" /><Relationship Type="http://schemas.openxmlformats.org/officeDocument/2006/relationships/notesMaster" Target="/ppt/notesMasters/notesMaster1.xml" Id="Rac65d0f75aca44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1f627fdc8744723" /><Relationship Type="http://schemas.openxmlformats.org/officeDocument/2006/relationships/notesMaster" Target="/ppt/notesMasters/notesMaster1.xml" Id="R759e8bdf93b141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0855684e6d4e81" /><Relationship Type="http://schemas.openxmlformats.org/officeDocument/2006/relationships/notesMaster" Target="/ppt/notesMasters/notesMaster1.xml" Id="Rbdca85a7ae1d47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66c062fcdf46f0" /><Relationship Type="http://schemas.openxmlformats.org/officeDocument/2006/relationships/notesMaster" Target="/ppt/notesMasters/notesMaster1.xml" Id="Rd698b0b37aa14e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86659f38524bdd" /><Relationship Type="http://schemas.openxmlformats.org/officeDocument/2006/relationships/notesMaster" Target="/ppt/notesMasters/notesMaster1.xml" Id="Ra9bdc886bee54d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16e724b7144709" /><Relationship Type="http://schemas.openxmlformats.org/officeDocument/2006/relationships/notesMaster" Target="/ppt/notesMasters/notesMaster1.xml" Id="R8f06f48ad03d49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8d052595234d6e" /><Relationship Type="http://schemas.openxmlformats.org/officeDocument/2006/relationships/notesMaster" Target="/ppt/notesMasters/notesMaster1.xml" Id="Rd4b3eda8eb0e43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0560c54b40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96cdfb7d864d6d" /><Relationship Type="http://schemas.openxmlformats.org/officeDocument/2006/relationships/slideLayout" Target="/ppt/slideLayouts/slideLayout1.xml" Id="R1bef96ea0a6141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ef96ea0a6141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f58b91fdd4369" /><Relationship Type="http://schemas.openxmlformats.org/officeDocument/2006/relationships/notesSlide" Target="/ppt/notesSlides/notesSlide1.xml" Id="Rbe243bd2d8fc4d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1224d2e544839" /><Relationship Type="http://schemas.openxmlformats.org/officeDocument/2006/relationships/notesSlide" Target="/ppt/notesSlides/notesSlide2.xml" Id="R2486cf581d5a4e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f5391463e43bf" /><Relationship Type="http://schemas.openxmlformats.org/officeDocument/2006/relationships/notesSlide" Target="/ppt/notesSlides/notesSlide3.xml" Id="Rac520293a45649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5996c347f4b2c" /><Relationship Type="http://schemas.openxmlformats.org/officeDocument/2006/relationships/notesSlide" Target="/ppt/notesSlides/notesSlide4.xml" Id="R1fa1859bdffc41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b0bde961247fb" /><Relationship Type="http://schemas.openxmlformats.org/officeDocument/2006/relationships/notesSlide" Target="/ppt/notesSlides/notesSlide5.xml" Id="R64500b2388b44c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c01d1528e4b7a" /><Relationship Type="http://schemas.openxmlformats.org/officeDocument/2006/relationships/notesSlide" Target="/ppt/notesSlides/notesSlide6.xml" Id="R08e46d04b58f4b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75bc157d24b0c" /><Relationship Type="http://schemas.openxmlformats.org/officeDocument/2006/relationships/notesSlide" Target="/ppt/notesSlides/notesSlide7.xml" Id="R05481919a7e848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5850970634de9" /><Relationship Type="http://schemas.openxmlformats.org/officeDocument/2006/relationships/chart" Target="/ppt/slides/charts/chart1.xml" Id="R729ca434c7c4484e" /><Relationship Type="http://schemas.openxmlformats.org/officeDocument/2006/relationships/notesSlide" Target="/ppt/notesSlides/notesSlide8.xml" Id="R84bc0f79e17b49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a9ee36fd8403b" /><Relationship Type="http://schemas.openxmlformats.org/officeDocument/2006/relationships/notesSlide" Target="/ppt/notesSlides/notesSlide9.xml" Id="R2769c0e95d1e4e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f253d656e4301" /><Relationship Type="http://schemas.openxmlformats.org/officeDocument/2006/relationships/notesSlide" Target="/ppt/notesSlides/notesSlide10.xml" Id="R871ffee36e614d77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数量</c:v>
          </c:tx>
          <c:spPr>
            <a:solidFill xmlns:a="http://schemas.openxmlformats.org/drawingml/2006/main">
              <a:srgbClr val="000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阶段</c:v>
              </c:pt>
              <c:pt idx="1">
                <c:v>Agent</c:v>
              </c:pt>
              <c:pt idx="2">
                <c:v>门禁</c:v>
              </c:pt>
              <c:pt idx="3">
                <c:v>运行面</c:v>
              </c:pt>
            </c:strLit>
          </c:cat>
          <c:val>
            <c:numLit>
              <c:formatCode>General</c:formatCode>
              <c:ptCount val="4"/>
              <c:pt idx="0">
                <c:v>9</c:v>
              </c:pt>
              <c:pt idx="1">
                <c:v>4</c:v>
              </c:pt>
              <c:pt idx="2">
                <c:v>4</c:v>
              </c:pt>
              <c:pt idx="3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555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EEB683B-B42B-489E-8739-3943F54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PRD Agent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5FA21B-12E2-4F9A-ABED-B595548D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从模糊需求到可执行 SDD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ED31E11-3258-410F-A124-2215CAD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一个由 CrewAI Flow 编排、Python 门禁控制、Web 与 CLI 共存的需求工作台。</a:t>
            </a:r>
          </a:p>
        </p:txBody>
      </p:sp>
      <p:sp>
        <p:nvSpPr>
          <p:cNvPr id="4" name="cover-right-panel">
            <a:extLst xmlns:a="http://schemas.openxmlformats.org/drawingml/2006/main">
              <a:ext uri="{FF2B5EF4-FFF2-40B4-BE49-F238E27FC236}">
                <a16:creationId xmlns:a16="http://schemas.microsoft.com/office/drawing/2014/main" id="{08B500DC-F855-4A40-AF84-A63E7F11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42900"/>
            <a:ext cx="2981325" cy="565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step-0">
            <a:extLst xmlns:a="http://schemas.openxmlformats.org/drawingml/2006/main">
              <a:ext uri="{FF2B5EF4-FFF2-40B4-BE49-F238E27FC236}">
                <a16:creationId xmlns:a16="http://schemas.microsoft.com/office/drawing/2014/main" id="{E0B5B43F-A544-44E3-8958-2800420F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876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cover-step-label-0">
            <a:extLst xmlns:a="http://schemas.openxmlformats.org/drawingml/2006/main">
              <a:ext uri="{FF2B5EF4-FFF2-40B4-BE49-F238E27FC236}">
                <a16:creationId xmlns:a16="http://schemas.microsoft.com/office/drawing/2014/main" id="{B26CB686-34F5-42C3-8077-6464690B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62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STRUCTURING</a:t>
            </a:r>
          </a:p>
        </p:txBody>
      </p:sp>
      <p:sp>
        <p:nvSpPr>
          <p:cNvPr id="7" name="cover-step-1">
            <a:extLst xmlns:a="http://schemas.openxmlformats.org/drawingml/2006/main">
              <a:ext uri="{FF2B5EF4-FFF2-40B4-BE49-F238E27FC236}">
                <a16:creationId xmlns:a16="http://schemas.microsoft.com/office/drawing/2014/main" id="{6CE96556-679F-4919-92EC-2C4396A6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38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cover-step-label-1">
            <a:extLst xmlns:a="http://schemas.openxmlformats.org/drawingml/2006/main">
              <a:ext uri="{FF2B5EF4-FFF2-40B4-BE49-F238E27FC236}">
                <a16:creationId xmlns:a16="http://schemas.microsoft.com/office/drawing/2014/main" id="{FED99685-F1A9-4822-9B84-8BD66865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24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LOGIC GATE</a:t>
            </a:r>
          </a:p>
        </p:txBody>
      </p:sp>
      <p:sp>
        <p:nvSpPr>
          <p:cNvPr id="9" name="cover-step-2">
            <a:extLst xmlns:a="http://schemas.openxmlformats.org/drawingml/2006/main">
              <a:ext uri="{FF2B5EF4-FFF2-40B4-BE49-F238E27FC236}">
                <a16:creationId xmlns:a16="http://schemas.microsoft.com/office/drawing/2014/main" id="{1B8E5267-E7CE-4428-8DA8-EF23D73E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cover-step-label-2">
            <a:extLst xmlns:a="http://schemas.openxmlformats.org/drawingml/2006/main">
              <a:ext uri="{FF2B5EF4-FFF2-40B4-BE49-F238E27FC236}">
                <a16:creationId xmlns:a16="http://schemas.microsoft.com/office/drawing/2014/main" id="{7067364D-7CFE-41AC-A1D6-4AD43A47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86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PRD REVIEW</a:t>
            </a:r>
          </a:p>
        </p:txBody>
      </p:sp>
      <p:sp>
        <p:nvSpPr>
          <p:cNvPr id="11" name="cover-step-3">
            <a:extLst xmlns:a="http://schemas.openxmlformats.org/drawingml/2006/main">
              <a:ext uri="{FF2B5EF4-FFF2-40B4-BE49-F238E27FC236}">
                <a16:creationId xmlns:a16="http://schemas.microsoft.com/office/drawing/2014/main" id="{61D6F9C7-7BC3-4F11-A965-8CCB8071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cover-step-label-3">
            <a:extLst xmlns:a="http://schemas.openxmlformats.org/drawingml/2006/main">
              <a:ext uri="{FF2B5EF4-FFF2-40B4-BE49-F238E27FC236}">
                <a16:creationId xmlns:a16="http://schemas.microsoft.com/office/drawing/2014/main" id="{50E199F8-367E-4590-8EB4-A2245A6F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48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SDD OUTPUT</a:t>
            </a:r>
          </a:p>
        </p:txBody>
      </p:sp>
      <p:sp>
        <p:nvSpPr>
          <p:cNvPr id="13" name="cover-step-4">
            <a:extLst xmlns:a="http://schemas.openxmlformats.org/drawingml/2006/main">
              <a:ext uri="{FF2B5EF4-FFF2-40B4-BE49-F238E27FC236}">
                <a16:creationId xmlns:a16="http://schemas.microsoft.com/office/drawing/2014/main" id="{311EBA07-007E-40F6-ABCF-1D59DD44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243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cover-step-label-4">
            <a:extLst xmlns:a="http://schemas.openxmlformats.org/drawingml/2006/main">
              <a:ext uri="{FF2B5EF4-FFF2-40B4-BE49-F238E27FC236}">
                <a16:creationId xmlns:a16="http://schemas.microsoft.com/office/drawing/2014/main" id="{9A679D9C-BD49-40F5-B58F-7DE3C8DA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100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COMPLETED</a:t>
            </a:r>
          </a:p>
        </p:txBody>
      </p:sp>
      <p:sp>
        <p:nvSpPr>
          <p:cNvPr id="15" name="cover-chip-1">
            <a:extLst xmlns:a="http://schemas.openxmlformats.org/drawingml/2006/main">
              <a:ext uri="{FF2B5EF4-FFF2-40B4-BE49-F238E27FC236}">
                <a16:creationId xmlns:a16="http://schemas.microsoft.com/office/drawing/2014/main" id="{8A61F45D-9D01-4B7C-9814-754146CE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361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cover-chip-1-text">
            <a:extLst xmlns:a="http://schemas.openxmlformats.org/drawingml/2006/main">
              <a:ext uri="{FF2B5EF4-FFF2-40B4-BE49-F238E27FC236}">
                <a16:creationId xmlns:a16="http://schemas.microsoft.com/office/drawing/2014/main" id="{9A79E196-3AE0-4C8A-89A0-667602A8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输出不能直接改变阶段</a:t>
            </a:r>
          </a:p>
        </p:txBody>
      </p:sp>
      <p:sp>
        <p:nvSpPr>
          <p:cNvPr id="17" name="cover-chip-2">
            <a:extLst xmlns:a="http://schemas.openxmlformats.org/drawingml/2006/main">
              <a:ext uri="{FF2B5EF4-FFF2-40B4-BE49-F238E27FC236}">
                <a16:creationId xmlns:a16="http://schemas.microsoft.com/office/drawing/2014/main" id="{FB735316-F099-4A1C-A93D-AFD33995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352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cover-chip-2-text">
            <a:extLst xmlns:a="http://schemas.openxmlformats.org/drawingml/2006/main">
              <a:ext uri="{FF2B5EF4-FFF2-40B4-BE49-F238E27FC236}">
                <a16:creationId xmlns:a16="http://schemas.microsoft.com/office/drawing/2014/main" id="{B4F96B15-4107-4A3E-B0CF-6A72037B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625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PRD / Review / SDD 可追溯</a:t>
            </a:r>
          </a:p>
        </p:txBody>
      </p:sp>
      <p:sp>
        <p:nvSpPr>
          <p:cNvPr id="19" name="footer-section-1">
            <a:extLst xmlns:a="http://schemas.openxmlformats.org/drawingml/2006/main">
              <a:ext uri="{FF2B5EF4-FFF2-40B4-BE49-F238E27FC236}">
                <a16:creationId xmlns:a16="http://schemas.microsoft.com/office/drawing/2014/main" id="{15C30BCB-C988-4F36-866E-228170F3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overview</a:t>
            </a:r>
          </a:p>
        </p:txBody>
      </p:sp>
      <p:sp>
        <p:nvSpPr>
          <p:cNvPr id="20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4A9DD90C-29EC-4D24-88CE-1926D9C0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66061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CC04138E-B1CE-4A9A-8D26-2A041B42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问题不是“写 PRD 慢”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827495D4-672B-4D38-9ACF-626D6FA4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真正的风险在于需求状态、审查责任和技术契约无法被稳定追踪。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505C42A1-E37A-41B3-AA8A-631187EB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3762E5CB-F045-4EDB-8B44-A5C78AC4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Why it exists</a:t>
            </a:r>
          </a:p>
        </p:txBody>
      </p:sp>
      <p:sp>
        <p:nvSpPr>
          <p:cNvPr id="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9CB4AA0-55EC-43C4-B0A4-F9B647C5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6" name="problem-panel-0">
            <a:extLst xmlns:a="http://schemas.openxmlformats.org/drawingml/2006/main">
              <a:ext uri="{FF2B5EF4-FFF2-40B4-BE49-F238E27FC236}">
                <a16:creationId xmlns:a16="http://schemas.microsoft.com/office/drawing/2014/main" id="{00EEA319-8C65-4A30-BB09-78A191DF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46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problem-marker-0">
            <a:extLst xmlns:a="http://schemas.openxmlformats.org/drawingml/2006/main">
              <a:ext uri="{FF2B5EF4-FFF2-40B4-BE49-F238E27FC236}">
                <a16:creationId xmlns:a16="http://schemas.microsoft.com/office/drawing/2014/main" id="{4A26CDCA-81EF-411F-9B7C-82B4175B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title-0">
            <a:extLst xmlns:a="http://schemas.openxmlformats.org/drawingml/2006/main">
              <a:ext uri="{FF2B5EF4-FFF2-40B4-BE49-F238E27FC236}">
                <a16:creationId xmlns:a16="http://schemas.microsoft.com/office/drawing/2014/main" id="{906DDA15-262C-466D-B4B4-625E218E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输入不完整</a:t>
            </a:r>
          </a:p>
        </p:txBody>
      </p:sp>
      <p:sp>
        <p:nvSpPr>
          <p:cNvPr id="9" name="problem-body-0">
            <a:extLst xmlns:a="http://schemas.openxmlformats.org/drawingml/2006/main">
              <a:ext uri="{FF2B5EF4-FFF2-40B4-BE49-F238E27FC236}">
                <a16:creationId xmlns:a16="http://schemas.microsoft.com/office/drawing/2014/main" id="{2DFAF637-4091-4269-8108-63BB2921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模糊需求直接生成文档，容易把假设写成事实。</a:t>
            </a:r>
          </a:p>
        </p:txBody>
      </p:sp>
      <p:sp>
        <p:nvSpPr>
          <p:cNvPr id="10" name="problem-panel-1">
            <a:extLst xmlns:a="http://schemas.openxmlformats.org/drawingml/2006/main">
              <a:ext uri="{FF2B5EF4-FFF2-40B4-BE49-F238E27FC236}">
                <a16:creationId xmlns:a16="http://schemas.microsoft.com/office/drawing/2014/main" id="{496B4BD0-D08C-46D8-B14B-0FDE65E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546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roblem-marker-1">
            <a:extLst xmlns:a="http://schemas.openxmlformats.org/drawingml/2006/main">
              <a:ext uri="{FF2B5EF4-FFF2-40B4-BE49-F238E27FC236}">
                <a16:creationId xmlns:a16="http://schemas.microsoft.com/office/drawing/2014/main" id="{53D2FAF7-1DF1-4069-B559-C710615B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title-1">
            <a:extLst xmlns:a="http://schemas.openxmlformats.org/drawingml/2006/main">
              <a:ext uri="{FF2B5EF4-FFF2-40B4-BE49-F238E27FC236}">
                <a16:creationId xmlns:a16="http://schemas.microsoft.com/office/drawing/2014/main" id="{84DD818C-16BA-4729-B1D2-7EAE89E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193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流程不可控</a:t>
            </a:r>
          </a:p>
        </p:txBody>
      </p:sp>
      <p:sp>
        <p:nvSpPr>
          <p:cNvPr id="13" name="problem-body-1">
            <a:extLst xmlns:a="http://schemas.openxmlformats.org/drawingml/2006/main">
              <a:ext uri="{FF2B5EF4-FFF2-40B4-BE49-F238E27FC236}">
                <a16:creationId xmlns:a16="http://schemas.microsoft.com/office/drawing/2014/main" id="{C4F835A1-21A8-4F3E-BD55-51636376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956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模型输出如果直接推进阶段，缺少可审计的确认点。</a:t>
            </a:r>
          </a:p>
        </p:txBody>
      </p:sp>
      <p:sp>
        <p:nvSpPr>
          <p:cNvPr id="14" name="problem-panel-2">
            <a:extLst xmlns:a="http://schemas.openxmlformats.org/drawingml/2006/main">
              <a:ext uri="{FF2B5EF4-FFF2-40B4-BE49-F238E27FC236}">
                <a16:creationId xmlns:a16="http://schemas.microsoft.com/office/drawing/2014/main" id="{27520D35-7FF8-4668-99DB-B5B2BE84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46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problem-marker-2">
            <a:extLst xmlns:a="http://schemas.openxmlformats.org/drawingml/2006/main">
              <a:ext uri="{FF2B5EF4-FFF2-40B4-BE49-F238E27FC236}">
                <a16:creationId xmlns:a16="http://schemas.microsoft.com/office/drawing/2014/main" id="{56DC3C3F-C219-4B9B-A12E-1B8DC19D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-title-2">
            <a:extLst xmlns:a="http://schemas.openxmlformats.org/drawingml/2006/main">
              <a:ext uri="{FF2B5EF4-FFF2-40B4-BE49-F238E27FC236}">
                <a16:creationId xmlns:a16="http://schemas.microsoft.com/office/drawing/2014/main" id="{A6820588-DF5C-4BED-AFB1-1630255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审查不独立</a:t>
            </a:r>
          </a:p>
        </p:txBody>
      </p:sp>
      <p:sp>
        <p:nvSpPr>
          <p:cNvPr id="17" name="problem-body-2">
            <a:extLst xmlns:a="http://schemas.openxmlformats.org/drawingml/2006/main">
              <a:ext uri="{FF2B5EF4-FFF2-40B4-BE49-F238E27FC236}">
                <a16:creationId xmlns:a16="http://schemas.microsoft.com/office/drawing/2014/main" id="{7818D106-CF57-489C-96B2-300B25CB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同一个作者自我修订，逻辑矛盾和场景遗漏容易被掩盖。</a:t>
            </a:r>
          </a:p>
        </p:txBody>
      </p:sp>
      <p:sp>
        <p:nvSpPr>
          <p:cNvPr id="18" name="problem-panel-3">
            <a:extLst xmlns:a="http://schemas.openxmlformats.org/drawingml/2006/main">
              <a:ext uri="{FF2B5EF4-FFF2-40B4-BE49-F238E27FC236}">
                <a16:creationId xmlns:a16="http://schemas.microsoft.com/office/drawing/2014/main" id="{E3BB70C9-7225-47B0-B898-B321AB39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54673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problem-marker-3">
            <a:extLst xmlns:a="http://schemas.openxmlformats.org/drawingml/2006/main">
              <a:ext uri="{FF2B5EF4-FFF2-40B4-BE49-F238E27FC236}">
                <a16:creationId xmlns:a16="http://schemas.microsoft.com/office/drawing/2014/main" id="{90B2EC86-6DB6-4980-B1CA-E82442BD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oblem-title-3">
            <a:extLst xmlns:a="http://schemas.openxmlformats.org/drawingml/2006/main">
              <a:ext uri="{FF2B5EF4-FFF2-40B4-BE49-F238E27FC236}">
                <a16:creationId xmlns:a16="http://schemas.microsoft.com/office/drawing/2014/main" id="{855833FF-E1E3-47CD-937B-B46C848F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交付不可执行</a:t>
            </a:r>
          </a:p>
        </p:txBody>
      </p:sp>
      <p:sp>
        <p:nvSpPr>
          <p:cNvPr id="21" name="problem-body-3">
            <a:extLst xmlns:a="http://schemas.openxmlformats.org/drawingml/2006/main">
              <a:ext uri="{FF2B5EF4-FFF2-40B4-BE49-F238E27FC236}">
                <a16:creationId xmlns:a16="http://schemas.microsoft.com/office/drawing/2014/main" id="{06EAEC60-0C37-44F3-B3D9-75541729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1490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PRD 与 SDD 分离，开发拿到的不是稳定技术契约。</a:t>
            </a:r>
          </a:p>
        </p:txBody>
      </p:sp>
    </p:spTree>
    <p:extLst>
      <p:ext uri="{BB962C8B-B14F-4D97-AF65-F5344CB8AC3E}">
        <p14:creationId xmlns:p14="http://schemas.microsoft.com/office/powerpoint/2010/main" val="905928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895B4345-03F3-4E70-813D-8707AD89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 个阶段，把生成过程变成状态机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BBD013F0-FF29-468A-8F14-12A61B6E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每一步都有明确状态；关键节点等待人工确认或处理反馈。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AF489DF6-559F-4DC7-84C4-E2F95EE8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25BC0CF8-6FE6-4918-8364-65E89699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Workflow</a:t>
            </a:r>
          </a:p>
        </p:txBody>
      </p:sp>
      <p:sp>
        <p:nvSpPr>
          <p:cNvPr id="5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2910BEF3-914E-4889-8683-AB05EA0B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6" name="workflow-card-1">
            <a:extLst xmlns:a="http://schemas.openxmlformats.org/drawingml/2006/main">
              <a:ext uri="{FF2B5EF4-FFF2-40B4-BE49-F238E27FC236}">
                <a16:creationId xmlns:a16="http://schemas.microsoft.com/office/drawing/2014/main" id="{A690473F-C869-4534-AF21-C47A7B1E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7" name="workflow-num-1">
            <a:extLst xmlns:a="http://schemas.openxmlformats.org/drawingml/2006/main">
              <a:ext uri="{FF2B5EF4-FFF2-40B4-BE49-F238E27FC236}">
                <a16:creationId xmlns:a16="http://schemas.microsoft.com/office/drawing/2014/main" id="{863CACD6-9C2E-4149-9CD3-05B441C5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workflow-label-1">
            <a:extLst xmlns:a="http://schemas.openxmlformats.org/drawingml/2006/main">
              <a:ext uri="{FF2B5EF4-FFF2-40B4-BE49-F238E27FC236}">
                <a16:creationId xmlns:a16="http://schemas.microsoft.com/office/drawing/2014/main" id="{74CE819B-34FB-4100-90B7-B24A5B8A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结构化</a:t>
            </a:r>
          </a:p>
        </p:txBody>
      </p:sp>
      <p:sp>
        <p:nvSpPr>
          <p:cNvPr id="9" name="workflow-code-1">
            <a:extLst xmlns:a="http://schemas.openxmlformats.org/drawingml/2006/main">
              <a:ext uri="{FF2B5EF4-FFF2-40B4-BE49-F238E27FC236}">
                <a16:creationId xmlns:a16="http://schemas.microsoft.com/office/drawing/2014/main" id="{64FCC71C-F336-4E12-80DC-57A19073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STRUCTURING</a:t>
            </a:r>
          </a:p>
        </p:txBody>
      </p:sp>
      <p:sp>
        <p:nvSpPr>
          <p:cNvPr id="10" name="workflow-card-2">
            <a:extLst xmlns:a="http://schemas.openxmlformats.org/drawingml/2006/main">
              <a:ext uri="{FF2B5EF4-FFF2-40B4-BE49-F238E27FC236}">
                <a16:creationId xmlns:a16="http://schemas.microsoft.com/office/drawing/2014/main" id="{AC4ED3DC-DCE0-468A-8B10-7918CBF4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0"/>
          </a:solidFill>
          <a:ln xmlns:a="http://schemas.openxmlformats.org/drawingml/2006/main" w="11430">
            <a:solidFill>
              <a:srgbClr val="FF6B35"/>
            </a:solidFill>
            <a:prstDash val="solid"/>
          </a:ln>
        </p:spPr>
      </p:sp>
      <p:sp>
        <p:nvSpPr>
          <p:cNvPr id="11" name="workflow-num-2">
            <a:extLst xmlns:a="http://schemas.openxmlformats.org/drawingml/2006/main">
              <a:ext uri="{FF2B5EF4-FFF2-40B4-BE49-F238E27FC236}">
                <a16:creationId xmlns:a16="http://schemas.microsoft.com/office/drawing/2014/main" id="{6EF732D4-E0FC-4E25-B663-9296C9F2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955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workflow-label-2">
            <a:extLst xmlns:a="http://schemas.openxmlformats.org/drawingml/2006/main">
              <a:ext uri="{FF2B5EF4-FFF2-40B4-BE49-F238E27FC236}">
                <a16:creationId xmlns:a16="http://schemas.microsoft.com/office/drawing/2014/main" id="{57D86639-95F0-40A7-938D-88120499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逻辑验证</a:t>
            </a:r>
          </a:p>
        </p:txBody>
      </p:sp>
      <p:sp>
        <p:nvSpPr>
          <p:cNvPr id="13" name="workflow-code-2">
            <a:extLst xmlns:a="http://schemas.openxmlformats.org/drawingml/2006/main">
              <a:ext uri="{FF2B5EF4-FFF2-40B4-BE49-F238E27FC236}">
                <a16:creationId xmlns:a16="http://schemas.microsoft.com/office/drawing/2014/main" id="{74B030FF-DE7C-4B5E-BE4A-53FA4566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6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LOGIC_VALIDATING</a:t>
            </a:r>
          </a:p>
        </p:txBody>
      </p:sp>
      <p:sp>
        <p:nvSpPr>
          <p:cNvPr id="14" name="workflow-card-3">
            <a:extLst xmlns:a="http://schemas.openxmlformats.org/drawingml/2006/main">
              <a:ext uri="{FF2B5EF4-FFF2-40B4-BE49-F238E27FC236}">
                <a16:creationId xmlns:a16="http://schemas.microsoft.com/office/drawing/2014/main" id="{212F6D73-3AC2-40E7-AF6C-0FA33D91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336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0"/>
          </a:solidFill>
          <a:ln xmlns:a="http://schemas.openxmlformats.org/drawingml/2006/main" w="11430">
            <a:solidFill>
              <a:srgbClr val="FF6B35"/>
            </a:solidFill>
            <a:prstDash val="solid"/>
          </a:ln>
        </p:spPr>
      </p:sp>
      <p:sp>
        <p:nvSpPr>
          <p:cNvPr id="15" name="workflow-num-3">
            <a:extLst xmlns:a="http://schemas.openxmlformats.org/drawingml/2006/main">
              <a:ext uri="{FF2B5EF4-FFF2-40B4-BE49-F238E27FC236}">
                <a16:creationId xmlns:a16="http://schemas.microsoft.com/office/drawing/2014/main" id="{D6340738-5220-46A5-A1E1-BD19860E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955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workflow-label-3">
            <a:extLst xmlns:a="http://schemas.openxmlformats.org/drawingml/2006/main">
              <a:ext uri="{FF2B5EF4-FFF2-40B4-BE49-F238E27FC236}">
                <a16:creationId xmlns:a16="http://schemas.microsoft.com/office/drawing/2014/main" id="{F1F42364-B26E-4846-AC5D-5F21E2C7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类型确认</a:t>
            </a:r>
          </a:p>
        </p:txBody>
      </p:sp>
      <p:sp>
        <p:nvSpPr>
          <p:cNvPr id="17" name="workflow-code-3">
            <a:extLst xmlns:a="http://schemas.openxmlformats.org/drawingml/2006/main">
              <a:ext uri="{FF2B5EF4-FFF2-40B4-BE49-F238E27FC236}">
                <a16:creationId xmlns:a16="http://schemas.microsoft.com/office/drawing/2014/main" id="{0B5E2013-3DFA-4C7C-8B4F-9641ECD5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PRD_TYPE_CONFIRMING</a:t>
            </a:r>
          </a:p>
        </p:txBody>
      </p:sp>
      <p:sp>
        <p:nvSpPr>
          <p:cNvPr id="18" name="workflow-card-4">
            <a:extLst xmlns:a="http://schemas.openxmlformats.org/drawingml/2006/main">
              <a:ext uri="{FF2B5EF4-FFF2-40B4-BE49-F238E27FC236}">
                <a16:creationId xmlns:a16="http://schemas.microsoft.com/office/drawing/2014/main" id="{8EED1398-27FB-40B6-A687-2F294ED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9" name="workflow-num-4">
            <a:extLst xmlns:a="http://schemas.openxmlformats.org/drawingml/2006/main">
              <a:ext uri="{FF2B5EF4-FFF2-40B4-BE49-F238E27FC236}">
                <a16:creationId xmlns:a16="http://schemas.microsoft.com/office/drawing/2014/main" id="{6E6CB708-2A8C-4DCF-BE98-340613BB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52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workflow-label-4">
            <a:extLst xmlns:a="http://schemas.openxmlformats.org/drawingml/2006/main">
              <a:ext uri="{FF2B5EF4-FFF2-40B4-BE49-F238E27FC236}">
                <a16:creationId xmlns:a16="http://schemas.microsoft.com/office/drawing/2014/main" id="{835B0094-27E1-4A59-99DE-FA704DE1D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PRD 生成</a:t>
            </a:r>
          </a:p>
        </p:txBody>
      </p:sp>
      <p:sp>
        <p:nvSpPr>
          <p:cNvPr id="21" name="workflow-code-4">
            <a:extLst xmlns:a="http://schemas.openxmlformats.org/drawingml/2006/main">
              <a:ext uri="{FF2B5EF4-FFF2-40B4-BE49-F238E27FC236}">
                <a16:creationId xmlns:a16="http://schemas.microsoft.com/office/drawing/2014/main" id="{8F22B905-AE45-42CF-98D6-C9443273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PRD_GENERATING</a:t>
            </a:r>
          </a:p>
        </p:txBody>
      </p:sp>
      <p:sp>
        <p:nvSpPr>
          <p:cNvPr id="22" name="workflow-card-5">
            <a:extLst xmlns:a="http://schemas.openxmlformats.org/drawingml/2006/main">
              <a:ext uri="{FF2B5EF4-FFF2-40B4-BE49-F238E27FC236}">
                <a16:creationId xmlns:a16="http://schemas.microsoft.com/office/drawing/2014/main" id="{338C261F-F691-4621-AD4B-9945B4AD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909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23" name="workflow-num-5">
            <a:extLst xmlns:a="http://schemas.openxmlformats.org/drawingml/2006/main">
              <a:ext uri="{FF2B5EF4-FFF2-40B4-BE49-F238E27FC236}">
                <a16:creationId xmlns:a16="http://schemas.microsoft.com/office/drawing/2014/main" id="{EB3125FF-C461-4A9D-9232-5FE02F04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52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workflow-label-5">
            <a:extLst xmlns:a="http://schemas.openxmlformats.org/drawingml/2006/main">
              <a:ext uri="{FF2B5EF4-FFF2-40B4-BE49-F238E27FC236}">
                <a16:creationId xmlns:a16="http://schemas.microsoft.com/office/drawing/2014/main" id="{BA4FA2AA-ED61-424D-9FBC-7FC00A63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62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独立终审</a:t>
            </a:r>
          </a:p>
        </p:txBody>
      </p:sp>
      <p:sp>
        <p:nvSpPr>
          <p:cNvPr id="25" name="workflow-code-5">
            <a:extLst xmlns:a="http://schemas.openxmlformats.org/drawingml/2006/main">
              <a:ext uri="{FF2B5EF4-FFF2-40B4-BE49-F238E27FC236}">
                <a16:creationId xmlns:a16="http://schemas.microsoft.com/office/drawing/2014/main" id="{5C70C725-E8BD-4173-B612-3CE4CFAF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24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PRD_REVIEWING</a:t>
            </a:r>
          </a:p>
        </p:txBody>
      </p:sp>
      <p:sp>
        <p:nvSpPr>
          <p:cNvPr id="26" name="workflow-card-6">
            <a:extLst xmlns:a="http://schemas.openxmlformats.org/drawingml/2006/main">
              <a:ext uri="{FF2B5EF4-FFF2-40B4-BE49-F238E27FC236}">
                <a16:creationId xmlns:a16="http://schemas.microsoft.com/office/drawing/2014/main" id="{34B10084-5D65-4058-991A-704DCD44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0"/>
          </a:solidFill>
          <a:ln xmlns:a="http://schemas.openxmlformats.org/drawingml/2006/main" w="11430">
            <a:solidFill>
              <a:srgbClr val="FF6B35"/>
            </a:solidFill>
            <a:prstDash val="solid"/>
          </a:ln>
        </p:spPr>
      </p:sp>
      <p:sp>
        <p:nvSpPr>
          <p:cNvPr id="27" name="workflow-num-6">
            <a:extLst xmlns:a="http://schemas.openxmlformats.org/drawingml/2006/main">
              <a:ext uri="{FF2B5EF4-FFF2-40B4-BE49-F238E27FC236}">
                <a16:creationId xmlns:a16="http://schemas.microsoft.com/office/drawing/2014/main" id="{1743C5EE-5513-4B07-B843-BB0178FB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52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8" name="workflow-label-6">
            <a:extLst xmlns:a="http://schemas.openxmlformats.org/drawingml/2006/main">
              <a:ext uri="{FF2B5EF4-FFF2-40B4-BE49-F238E27FC236}">
                <a16:creationId xmlns:a16="http://schemas.microsoft.com/office/drawing/2014/main" id="{03616791-E2E9-43A6-9BA5-B0061AAD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62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PRD 修订</a:t>
            </a:r>
          </a:p>
        </p:txBody>
      </p:sp>
      <p:sp>
        <p:nvSpPr>
          <p:cNvPr id="29" name="workflow-code-6">
            <a:extLst xmlns:a="http://schemas.openxmlformats.org/drawingml/2006/main">
              <a:ext uri="{FF2B5EF4-FFF2-40B4-BE49-F238E27FC236}">
                <a16:creationId xmlns:a16="http://schemas.microsoft.com/office/drawing/2014/main" id="{831F26D8-B9DB-4345-B86D-FE30C18D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24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PRD_REVISING</a:t>
            </a:r>
          </a:p>
        </p:txBody>
      </p:sp>
      <p:sp>
        <p:nvSpPr>
          <p:cNvPr id="30" name="workflow-card-7">
            <a:extLst xmlns:a="http://schemas.openxmlformats.org/drawingml/2006/main">
              <a:ext uri="{FF2B5EF4-FFF2-40B4-BE49-F238E27FC236}">
                <a16:creationId xmlns:a16="http://schemas.microsoft.com/office/drawing/2014/main" id="{F32FB53B-D6DE-4517-ADE4-4C39EFCD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0"/>
          </a:solidFill>
          <a:ln xmlns:a="http://schemas.openxmlformats.org/drawingml/2006/main" w="11430">
            <a:solidFill>
              <a:srgbClr val="FF6B35"/>
            </a:solidFill>
            <a:prstDash val="solid"/>
          </a:ln>
        </p:spPr>
      </p:sp>
      <p:sp>
        <p:nvSpPr>
          <p:cNvPr id="31" name="workflow-num-7">
            <a:extLst xmlns:a="http://schemas.openxmlformats.org/drawingml/2006/main">
              <a:ext uri="{FF2B5EF4-FFF2-40B4-BE49-F238E27FC236}">
                <a16:creationId xmlns:a16="http://schemas.microsoft.com/office/drawing/2014/main" id="{304E4AFC-9E5A-4C64-88F9-8AA71FB4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2" name="workflow-label-7">
            <a:extLst xmlns:a="http://schemas.openxmlformats.org/drawingml/2006/main">
              <a:ext uri="{FF2B5EF4-FFF2-40B4-BE49-F238E27FC236}">
                <a16:creationId xmlns:a16="http://schemas.microsoft.com/office/drawing/2014/main" id="{B8E455FC-CBB3-4C21-8EE3-B24F9C1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9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SDD 确认</a:t>
            </a:r>
          </a:p>
        </p:txBody>
      </p:sp>
      <p:sp>
        <p:nvSpPr>
          <p:cNvPr id="33" name="workflow-code-7">
            <a:extLst xmlns:a="http://schemas.openxmlformats.org/drawingml/2006/main">
              <a:ext uri="{FF2B5EF4-FFF2-40B4-BE49-F238E27FC236}">
                <a16:creationId xmlns:a16="http://schemas.microsoft.com/office/drawing/2014/main" id="{32B1154C-F78C-47B3-A7F3-3B76C954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81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SDD_CONFIRMING</a:t>
            </a:r>
          </a:p>
        </p:txBody>
      </p:sp>
      <p:sp>
        <p:nvSpPr>
          <p:cNvPr id="34" name="workflow-card-8">
            <a:extLst xmlns:a="http://schemas.openxmlformats.org/drawingml/2006/main">
              <a:ext uri="{FF2B5EF4-FFF2-40B4-BE49-F238E27FC236}">
                <a16:creationId xmlns:a16="http://schemas.microsoft.com/office/drawing/2014/main" id="{8E0540B3-65D0-41E8-BA32-F09C6AA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482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35" name="workflow-num-8">
            <a:extLst xmlns:a="http://schemas.openxmlformats.org/drawingml/2006/main">
              <a:ext uri="{FF2B5EF4-FFF2-40B4-BE49-F238E27FC236}">
                <a16:creationId xmlns:a16="http://schemas.microsoft.com/office/drawing/2014/main" id="{A8D574CB-A39E-4D4B-9C5D-F4D900E6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6" name="workflow-label-8">
            <a:extLst xmlns:a="http://schemas.openxmlformats.org/drawingml/2006/main">
              <a:ext uri="{FF2B5EF4-FFF2-40B4-BE49-F238E27FC236}">
                <a16:creationId xmlns:a16="http://schemas.microsoft.com/office/drawing/2014/main" id="{E42809F7-FC76-40DE-BD78-67721834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819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SDD 生成</a:t>
            </a:r>
          </a:p>
        </p:txBody>
      </p:sp>
      <p:sp>
        <p:nvSpPr>
          <p:cNvPr id="37" name="workflow-code-8">
            <a:extLst xmlns:a="http://schemas.openxmlformats.org/drawingml/2006/main">
              <a:ext uri="{FF2B5EF4-FFF2-40B4-BE49-F238E27FC236}">
                <a16:creationId xmlns:a16="http://schemas.microsoft.com/office/drawing/2014/main" id="{5DD7CAA6-0C29-4162-A28E-5BD086BE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81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SDD_GENERATING</a:t>
            </a:r>
          </a:p>
        </p:txBody>
      </p:sp>
      <p:sp>
        <p:nvSpPr>
          <p:cNvPr id="38" name="workflow-card-9">
            <a:extLst xmlns:a="http://schemas.openxmlformats.org/drawingml/2006/main">
              <a:ext uri="{FF2B5EF4-FFF2-40B4-BE49-F238E27FC236}">
                <a16:creationId xmlns:a16="http://schemas.microsoft.com/office/drawing/2014/main" id="{E183CC56-2995-4B52-9DFA-36DCCFEF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39" name="workflow-num-9">
            <a:extLst xmlns:a="http://schemas.openxmlformats.org/drawingml/2006/main">
              <a:ext uri="{FF2B5EF4-FFF2-40B4-BE49-F238E27FC236}">
                <a16:creationId xmlns:a16="http://schemas.microsoft.com/office/drawing/2014/main" id="{8E720912-C257-4D92-A4B9-91D1EB5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01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40" name="workflow-label-9">
            <a:extLst xmlns:a="http://schemas.openxmlformats.org/drawingml/2006/main">
              <a:ext uri="{FF2B5EF4-FFF2-40B4-BE49-F238E27FC236}">
                <a16:creationId xmlns:a16="http://schemas.microsoft.com/office/drawing/2014/main" id="{E0D8EF23-1CC2-4302-BD6B-FEBA9691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19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完成</a:t>
            </a:r>
          </a:p>
        </p:txBody>
      </p:sp>
      <p:sp>
        <p:nvSpPr>
          <p:cNvPr id="41" name="workflow-code-9">
            <a:extLst xmlns:a="http://schemas.openxmlformats.org/drawingml/2006/main">
              <a:ext uri="{FF2B5EF4-FFF2-40B4-BE49-F238E27FC236}">
                <a16:creationId xmlns:a16="http://schemas.microsoft.com/office/drawing/2014/main" id="{C2AFF036-0FD1-4358-A21A-C8BF22E2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81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COMPLETED</a:t>
            </a:r>
          </a:p>
        </p:txBody>
      </p:sp>
      <p:sp>
        <p:nvSpPr>
          <p:cNvPr id="42" name="workflow-note">
            <a:extLst xmlns:a="http://schemas.openxmlformats.org/drawingml/2006/main">
              <a:ext uri="{FF2B5EF4-FFF2-40B4-BE49-F238E27FC236}">
                <a16:creationId xmlns:a16="http://schemas.microsoft.com/office/drawing/2014/main" id="{0EDFF812-515C-4D25-B086-BA37CFBD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橙色边框代表需要人工门禁或人工反馈的阶段。</a:t>
            </a:r>
          </a:p>
        </p:txBody>
      </p:sp>
    </p:spTree>
    <p:extLst>
      <p:ext uri="{BB962C8B-B14F-4D97-AF65-F5344CB8AC3E}">
        <p14:creationId xmlns:p14="http://schemas.microsoft.com/office/powerpoint/2010/main" val="14022080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41B9E882-85D0-48C6-A2D9-DF9F402B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人工门禁是质量边界</a:t>
            </a:r>
          </a:p>
        </p:txBody>
      </p:sp>
      <p:sp>
        <p:nvSpPr>
          <p:cNvPr id="2" name="subtitle-4">
            <a:extLst xmlns:a="http://schemas.openxmlformats.org/drawingml/2006/main">
              <a:ext uri="{FF2B5EF4-FFF2-40B4-BE49-F238E27FC236}">
                <a16:creationId xmlns:a16="http://schemas.microsoft.com/office/drawing/2014/main" id="{058A0C31-4BF0-438F-9C60-A4394357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系统不是让 LLM 自己决定能否进入下一阶段，而是由 Python 规则检查状态。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AFD86522-E32D-4C9D-8A9E-F0682B76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AFA54251-A86A-4AF6-81FE-2EAAD16C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Control points</a:t>
            </a:r>
          </a:p>
        </p:txBody>
      </p:sp>
      <p:sp>
        <p:nvSpPr>
          <p:cNvPr id="5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781098C3-E25D-4F3D-8010-B0BC3DE8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2209800"/>
          <a:ext xmlns:a="http://schemas.openxmlformats.org/drawingml/2006/main" cx="1139190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47975"/>
                <a:gridCol w="2847975"/>
                <a:gridCol w="2847975"/>
                <a:gridCol w="2847975"/>
              </a:tblGrid>
              <a:tr h="6096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门禁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触发阶段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必须满足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失败时处理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结构化确认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结构化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特性、问题、数据来源与影响已补齐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继续追问或补充反馈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逻辑就绪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逻辑验证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无未解决阻断问题，依赖与路径可达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修正或记录豁免理由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产品类型确认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类型确认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类型识别已生成并被确认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补充信息后重新判断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SDD 生成确认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SDD 确认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基于已通过 PRD 版本生成技术规范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等待明确“下一步”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gates-callout">
            <a:extLst xmlns:a="http://schemas.openxmlformats.org/drawingml/2006/main">
              <a:ext uri="{FF2B5EF4-FFF2-40B4-BE49-F238E27FC236}">
                <a16:creationId xmlns:a16="http://schemas.microsoft.com/office/drawing/2014/main" id="{E4DBAE7A-41D3-4590-976E-37C63C54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价值：阶段推进被规则约束，审计日志记录每次确认、回退、失败与豁免。</a:t>
            </a:r>
          </a:p>
        </p:txBody>
      </p:sp>
    </p:spTree>
    <p:extLst>
      <p:ext uri="{BB962C8B-B14F-4D97-AF65-F5344CB8AC3E}">
        <p14:creationId xmlns:p14="http://schemas.microsoft.com/office/powerpoint/2010/main" val="15921332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4D0D671F-B4F6-4507-88D5-73141B6A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四类智能体，职责隔离</a:t>
            </a:r>
          </a:p>
        </p:txBody>
      </p:sp>
      <p:sp>
        <p:nvSpPr>
          <p:cNvPr id="2" name="subtitle-5">
            <a:extLst xmlns:a="http://schemas.openxmlformats.org/drawingml/2006/main">
              <a:ext uri="{FF2B5EF4-FFF2-40B4-BE49-F238E27FC236}">
                <a16:creationId xmlns:a16="http://schemas.microsoft.com/office/drawing/2014/main" id="{BDC398F4-A51D-4155-BF06-0B6A369B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每个 Agent 绑定特定 skill，禁止 delegation，并限制迭代次数。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DA5C4E98-9779-4D2D-867C-389252D1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3854CCF4-3831-4E1A-BF57-BCC38007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Agent roles</a:t>
            </a:r>
          </a:p>
        </p:txBody>
      </p:sp>
      <p:sp>
        <p:nvSpPr>
          <p:cNvPr id="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0CC46D4E-ED6F-43D5-B2AE-299B6F89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6" name="agent-panel-0">
            <a:extLst xmlns:a="http://schemas.openxmlformats.org/drawingml/2006/main">
              <a:ext uri="{FF2B5EF4-FFF2-40B4-BE49-F238E27FC236}">
                <a16:creationId xmlns:a16="http://schemas.microsoft.com/office/drawing/2014/main" id="{5904C8A7-C17A-483A-8AA8-5BEC2A76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2476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gent-title-0">
            <a:extLst xmlns:a="http://schemas.openxmlformats.org/drawingml/2006/main">
              <a:ext uri="{FF2B5EF4-FFF2-40B4-BE49-F238E27FC236}">
                <a16:creationId xmlns:a16="http://schemas.microsoft.com/office/drawing/2014/main" id="{38F2B4F0-7107-4861-8E47-2FF2219C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 Analyst</a:t>
            </a:r>
          </a:p>
        </p:txBody>
      </p:sp>
      <p:sp>
        <p:nvSpPr>
          <p:cNvPr id="8" name="agent-rule-0">
            <a:extLst xmlns:a="http://schemas.openxmlformats.org/drawingml/2006/main">
              <a:ext uri="{FF2B5EF4-FFF2-40B4-BE49-F238E27FC236}">
                <a16:creationId xmlns:a16="http://schemas.microsoft.com/office/drawing/2014/main" id="{DD394496-B7AD-43A8-803B-F15C576E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gent-body-0">
            <a:extLst xmlns:a="http://schemas.openxmlformats.org/drawingml/2006/main">
              <a:ext uri="{FF2B5EF4-FFF2-40B4-BE49-F238E27FC236}">
                <a16:creationId xmlns:a16="http://schemas.microsoft.com/office/drawing/2014/main" id="{1B492336-B5F6-4BD6-959F-65503A6C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把原始需求拆成模块、特性、数据来源、交互逻辑、影响和依赖。</a:t>
            </a:r>
          </a:p>
        </p:txBody>
      </p:sp>
      <p:sp>
        <p:nvSpPr>
          <p:cNvPr id="10" name="agent-output-0">
            <a:extLst xmlns:a="http://schemas.openxmlformats.org/drawingml/2006/main">
              <a:ext uri="{FF2B5EF4-FFF2-40B4-BE49-F238E27FC236}">
                <a16:creationId xmlns:a16="http://schemas.microsoft.com/office/drawing/2014/main" id="{43C5173B-AFDC-4386-9B76-9DE521BB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输出结构化规格、澄清问题、逻辑问题。</a:t>
            </a:r>
          </a:p>
        </p:txBody>
      </p:sp>
      <p:sp>
        <p:nvSpPr>
          <p:cNvPr id="11" name="agent-panel-1">
            <a:extLst xmlns:a="http://schemas.openxmlformats.org/drawingml/2006/main">
              <a:ext uri="{FF2B5EF4-FFF2-40B4-BE49-F238E27FC236}">
                <a16:creationId xmlns:a16="http://schemas.microsoft.com/office/drawing/2014/main" id="{3E577E87-D916-4D11-8E7F-99A1D758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33600"/>
            <a:ext cx="2476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agent-title-1">
            <a:extLst xmlns:a="http://schemas.openxmlformats.org/drawingml/2006/main">
              <a:ext uri="{FF2B5EF4-FFF2-40B4-BE49-F238E27FC236}">
                <a16:creationId xmlns:a16="http://schemas.microsoft.com/office/drawing/2014/main" id="{7C75F394-144E-4E66-962E-DB39DC5E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3622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PRD Writer</a:t>
            </a:r>
          </a:p>
        </p:txBody>
      </p:sp>
      <p:sp>
        <p:nvSpPr>
          <p:cNvPr id="13" name="agent-rule-1">
            <a:extLst xmlns:a="http://schemas.openxmlformats.org/drawingml/2006/main">
              <a:ext uri="{FF2B5EF4-FFF2-40B4-BE49-F238E27FC236}">
                <a16:creationId xmlns:a16="http://schemas.microsoft.com/office/drawing/2014/main" id="{4231C247-A35F-4F24-8BCB-036A4DA8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051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gent-body-1">
            <a:extLst xmlns:a="http://schemas.openxmlformats.org/drawingml/2006/main">
              <a:ext uri="{FF2B5EF4-FFF2-40B4-BE49-F238E27FC236}">
                <a16:creationId xmlns:a16="http://schemas.microsoft.com/office/drawing/2014/main" id="{AA7F5819-6244-45C8-8822-017698D7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718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只基于已确认事实生成可审查、可实施的 PRD。</a:t>
            </a:r>
          </a:p>
        </p:txBody>
      </p:sp>
      <p:sp>
        <p:nvSpPr>
          <p:cNvPr id="15" name="agent-output-1">
            <a:extLst xmlns:a="http://schemas.openxmlformats.org/drawingml/2006/main">
              <a:ext uri="{FF2B5EF4-FFF2-40B4-BE49-F238E27FC236}">
                <a16:creationId xmlns:a16="http://schemas.microsoft.com/office/drawing/2014/main" id="{D3A9C521-4DC4-4CCB-9FB4-5BA1EF84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5148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输出 Markdown PRD 与验收标准。</a:t>
            </a:r>
          </a:p>
        </p:txBody>
      </p:sp>
      <p:sp>
        <p:nvSpPr>
          <p:cNvPr id="16" name="agent-panel-2">
            <a:extLst xmlns:a="http://schemas.openxmlformats.org/drawingml/2006/main">
              <a:ext uri="{FF2B5EF4-FFF2-40B4-BE49-F238E27FC236}">
                <a16:creationId xmlns:a16="http://schemas.microsoft.com/office/drawing/2014/main" id="{47D893CF-8F26-464F-A308-57C45E01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2476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agent-title-2">
            <a:extLst xmlns:a="http://schemas.openxmlformats.org/drawingml/2006/main">
              <a:ext uri="{FF2B5EF4-FFF2-40B4-BE49-F238E27FC236}">
                <a16:creationId xmlns:a16="http://schemas.microsoft.com/office/drawing/2014/main" id="{4F2679A7-E104-46D8-918A-033B8893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PRD Reviewer</a:t>
            </a:r>
          </a:p>
        </p:txBody>
      </p:sp>
      <p:sp>
        <p:nvSpPr>
          <p:cNvPr id="18" name="agent-rule-2">
            <a:extLst xmlns:a="http://schemas.openxmlformats.org/drawingml/2006/main">
              <a:ext uri="{FF2B5EF4-FFF2-40B4-BE49-F238E27FC236}">
                <a16:creationId xmlns:a16="http://schemas.microsoft.com/office/drawing/2014/main" id="{D55FCB61-100E-4C97-9CF5-27841EAA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body-2">
            <a:extLst xmlns:a="http://schemas.openxmlformats.org/drawingml/2006/main">
              <a:ext uri="{FF2B5EF4-FFF2-40B4-BE49-F238E27FC236}">
                <a16:creationId xmlns:a16="http://schemas.microsoft.com/office/drawing/2014/main" id="{437ADB71-507B-470D-A21A-92D3BDE0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独立发现逻辑矛盾、流程断点和场景遗漏。</a:t>
            </a:r>
          </a:p>
        </p:txBody>
      </p:sp>
      <p:sp>
        <p:nvSpPr>
          <p:cNvPr id="20" name="agent-output-2">
            <a:extLst xmlns:a="http://schemas.openxmlformats.org/drawingml/2006/main">
              <a:ext uri="{FF2B5EF4-FFF2-40B4-BE49-F238E27FC236}">
                <a16:creationId xmlns:a16="http://schemas.microsoft.com/office/drawing/2014/main" id="{467C1F07-9ED9-4F54-A71C-8D0DC170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148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输出审查报告，不静默改写 PRD。</a:t>
            </a:r>
          </a:p>
        </p:txBody>
      </p:sp>
      <p:sp>
        <p:nvSpPr>
          <p:cNvPr id="21" name="agent-panel-3">
            <a:extLst xmlns:a="http://schemas.openxmlformats.org/drawingml/2006/main">
              <a:ext uri="{FF2B5EF4-FFF2-40B4-BE49-F238E27FC236}">
                <a16:creationId xmlns:a16="http://schemas.microsoft.com/office/drawing/2014/main" id="{86DABAA5-4C2D-4069-B61F-A9464CE8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33600"/>
            <a:ext cx="2476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agent-title-3">
            <a:extLst xmlns:a="http://schemas.openxmlformats.org/drawingml/2006/main">
              <a:ext uri="{FF2B5EF4-FFF2-40B4-BE49-F238E27FC236}">
                <a16:creationId xmlns:a16="http://schemas.microsoft.com/office/drawing/2014/main" id="{88961826-56A1-452F-91FE-EE535BA1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622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Solution Architect</a:t>
            </a:r>
          </a:p>
        </p:txBody>
      </p:sp>
      <p:sp>
        <p:nvSpPr>
          <p:cNvPr id="23" name="agent-rule-3">
            <a:extLst xmlns:a="http://schemas.openxmlformats.org/drawingml/2006/main">
              <a:ext uri="{FF2B5EF4-FFF2-40B4-BE49-F238E27FC236}">
                <a16:creationId xmlns:a16="http://schemas.microsoft.com/office/drawing/2014/main" id="{9020DC6C-7656-4D38-9F8C-4C2AC956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05150"/>
            <a:ext cx="209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gent-body-3">
            <a:extLst xmlns:a="http://schemas.openxmlformats.org/drawingml/2006/main">
              <a:ext uri="{FF2B5EF4-FFF2-40B4-BE49-F238E27FC236}">
                <a16:creationId xmlns:a16="http://schemas.microsoft.com/office/drawing/2014/main" id="{50850F24-235D-4C14-A395-622F0C83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37185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把终审通过 PRD 转成可开发技术契约。</a:t>
            </a:r>
          </a:p>
        </p:txBody>
      </p:sp>
      <p:sp>
        <p:nvSpPr>
          <p:cNvPr id="25" name="agent-output-3">
            <a:extLst xmlns:a="http://schemas.openxmlformats.org/drawingml/2006/main">
              <a:ext uri="{FF2B5EF4-FFF2-40B4-BE49-F238E27FC236}">
                <a16:creationId xmlns:a16="http://schemas.microsoft.com/office/drawing/2014/main" id="{F2D3DB11-36CC-470F-9B09-1D4E58B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5148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输出 API、数据、状态、错误与验收标准。</a:t>
            </a:r>
          </a:p>
        </p:txBody>
      </p:sp>
    </p:spTree>
    <p:extLst>
      <p:ext uri="{BB962C8B-B14F-4D97-AF65-F5344CB8AC3E}">
        <p14:creationId xmlns:p14="http://schemas.microsoft.com/office/powerpoint/2010/main" val="329615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9306F494-0DB5-4B12-B049-68A958A7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架构：Web 管理台、API、Worker 和 MySQL 分工明确</a:t>
            </a:r>
          </a:p>
        </p:txBody>
      </p:sp>
      <p:sp>
        <p:nvSpPr>
          <p:cNvPr id="2" name="subtitle-6">
            <a:extLst xmlns:a="http://schemas.openxmlformats.org/drawingml/2006/main">
              <a:ext uri="{FF2B5EF4-FFF2-40B4-BE49-F238E27FC236}">
                <a16:creationId xmlns:a16="http://schemas.microsoft.com/office/drawing/2014/main" id="{2BF12E49-2B34-4B3B-B72D-DC75ADCF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前端负责交互，FastAPI 负责项目与配置，Worker 执行 CrewAI Flow，MySQL 保存状态。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0C29BB8B-F385-45CC-BA08-023884F1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1D992ACA-A231-4FD6-AF25-E2DDCEFE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System architecture</a:t>
            </a:r>
          </a:p>
        </p:txBody>
      </p:sp>
      <p:sp>
        <p:nvSpPr>
          <p:cNvPr id="5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BB3FB062-CCBD-4D31-B9CB-706AD69E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6" name="arch-block-0">
            <a:extLst xmlns:a="http://schemas.openxmlformats.org/drawingml/2006/main">
              <a:ext uri="{FF2B5EF4-FFF2-40B4-BE49-F238E27FC236}">
                <a16:creationId xmlns:a16="http://schemas.microsoft.com/office/drawing/2014/main" id="{7D887F87-0CDC-496F-8F75-B7ACDDB3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86544584-6641-4F26-9798-8B3E9A11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Vue 3 Web 管理台</a:t>
            </a:r>
          </a:p>
        </p:txBody>
      </p:sp>
      <p:sp>
        <p:nvSpPr>
          <p:cNvPr id="8" name="arch-body-0">
            <a:extLst xmlns:a="http://schemas.openxmlformats.org/drawingml/2006/main">
              <a:ext uri="{FF2B5EF4-FFF2-40B4-BE49-F238E27FC236}">
                <a16:creationId xmlns:a16="http://schemas.microsoft.com/office/drawing/2014/main" id="{BB4B1BEF-2EAE-484B-BADA-74F3231E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项目创建 / 门禁确认 / 导出</a:t>
            </a:r>
          </a:p>
        </p:txBody>
      </p:sp>
      <p:sp>
        <p:nvSpPr>
          <p:cNvPr id="9" name="arch-block-1">
            <a:extLst xmlns:a="http://schemas.openxmlformats.org/drawingml/2006/main">
              <a:ext uri="{FF2B5EF4-FFF2-40B4-BE49-F238E27FC236}">
                <a16:creationId xmlns:a16="http://schemas.microsoft.com/office/drawing/2014/main" id="{B1641E58-594E-4D1A-A768-32A3B2DE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4790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9917603C-CD8C-4F47-BCA2-EFAEED16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38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11" name="arch-body-1">
            <a:extLst xmlns:a="http://schemas.openxmlformats.org/drawingml/2006/main">
              <a:ext uri="{FF2B5EF4-FFF2-40B4-BE49-F238E27FC236}">
                <a16:creationId xmlns:a16="http://schemas.microsoft.com/office/drawing/2014/main" id="{AFE53FE4-A880-456C-B15C-A45CCBE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38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认证、项目、LLM 配置、导出</a:t>
            </a:r>
          </a:p>
        </p:txBody>
      </p:sp>
      <p:sp>
        <p:nvSpPr>
          <p:cNvPr id="12" name="arch-block-2">
            <a:extLst xmlns:a="http://schemas.openxmlformats.org/drawingml/2006/main">
              <a:ext uri="{FF2B5EF4-FFF2-40B4-BE49-F238E27FC236}">
                <a16:creationId xmlns:a16="http://schemas.microsoft.com/office/drawing/2014/main" id="{6590AD51-8323-4CEE-A4A4-717D73C3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6FFDBB4C-8BF2-4F6C-8D71-2486EBBD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38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Async Worker</a:t>
            </a:r>
          </a:p>
        </p:txBody>
      </p:sp>
      <p:sp>
        <p:nvSpPr>
          <p:cNvPr id="14" name="arch-body-2">
            <a:extLst xmlns:a="http://schemas.openxmlformats.org/drawingml/2006/main">
              <a:ext uri="{FF2B5EF4-FFF2-40B4-BE49-F238E27FC236}">
                <a16:creationId xmlns:a16="http://schemas.microsoft.com/office/drawing/2014/main" id="{9BFA970D-2ED3-436B-BE07-8E7A4A6D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轮询任务队列并运行 Flow</a:t>
            </a:r>
          </a:p>
        </p:txBody>
      </p:sp>
      <p:sp>
        <p:nvSpPr>
          <p:cNvPr id="15" name="arch-block-3">
            <a:extLst xmlns:a="http://schemas.openxmlformats.org/drawingml/2006/main">
              <a:ext uri="{FF2B5EF4-FFF2-40B4-BE49-F238E27FC236}">
                <a16:creationId xmlns:a16="http://schemas.microsoft.com/office/drawing/2014/main" id="{DA8E0925-A646-438C-ACA4-067192AE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7675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DD82B29C-9D44-4606-8CB2-B1FBCCCC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MySQL 8.0+</a:t>
            </a:r>
          </a:p>
        </p:txBody>
      </p:sp>
      <p:sp>
        <p:nvSpPr>
          <p:cNvPr id="17" name="arch-body-3">
            <a:extLst xmlns:a="http://schemas.openxmlformats.org/drawingml/2006/main">
              <a:ext uri="{FF2B5EF4-FFF2-40B4-BE49-F238E27FC236}">
                <a16:creationId xmlns:a16="http://schemas.microsoft.com/office/drawing/2014/main" id="{A2A405AD-9FD4-4A1E-AA7A-1D9605DD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673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项目状态、任务、审查、历史</a:t>
            </a:r>
          </a:p>
        </p:txBody>
      </p:sp>
      <p:sp>
        <p:nvSpPr>
          <p:cNvPr id="18" name="arch-block-4">
            <a:extLst xmlns:a="http://schemas.openxmlformats.org/drawingml/2006/main">
              <a:ext uri="{FF2B5EF4-FFF2-40B4-BE49-F238E27FC236}">
                <a16:creationId xmlns:a16="http://schemas.microsoft.com/office/drawing/2014/main" id="{E21CB6C3-51D3-42EA-9DBE-5D7C17CB6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3143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BDD879BF-A07D-4AC7-874B-22B6AE70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Providers</a:t>
            </a:r>
          </a:p>
        </p:txBody>
      </p:sp>
      <p:sp>
        <p:nvSpPr>
          <p:cNvPr id="20" name="arch-body-4">
            <a:extLst xmlns:a="http://schemas.openxmlformats.org/drawingml/2006/main">
              <a:ext uri="{FF2B5EF4-FFF2-40B4-BE49-F238E27FC236}">
                <a16:creationId xmlns:a16="http://schemas.microsoft.com/office/drawing/2014/main" id="{D8C9361C-6C95-48C0-AFF4-20578522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673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OpenAI / DeepSeek / Ollama / Custom</a:t>
            </a:r>
          </a:p>
        </p:txBody>
      </p:sp>
      <p:sp>
        <p:nvSpPr>
          <p:cNvPr id="21" name="arch-flow-a">
            <a:extLst xmlns:a="http://schemas.openxmlformats.org/drawingml/2006/main">
              <a:ext uri="{FF2B5EF4-FFF2-40B4-BE49-F238E27FC236}">
                <a16:creationId xmlns:a16="http://schemas.microsoft.com/office/drawing/2014/main" id="{95D1B3EB-7DEA-4BC2-972D-0ABF0867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43200"/>
            <a:ext cx="981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rch-flow-b">
            <a:extLst xmlns:a="http://schemas.openxmlformats.org/drawingml/2006/main">
              <a:ext uri="{FF2B5EF4-FFF2-40B4-BE49-F238E27FC236}">
                <a16:creationId xmlns:a16="http://schemas.microsoft.com/office/drawing/2014/main" id="{532BE2E0-5C69-4CB4-B98C-79EE755E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43200"/>
            <a:ext cx="981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rch-flow-c">
            <a:extLst xmlns:a="http://schemas.openxmlformats.org/drawingml/2006/main">
              <a:ext uri="{FF2B5EF4-FFF2-40B4-BE49-F238E27FC236}">
                <a16:creationId xmlns:a16="http://schemas.microsoft.com/office/drawing/2014/main" id="{4F3600D6-EC96-432E-ACBD-62A1978F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3380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arch-flow-d">
            <a:extLst xmlns:a="http://schemas.openxmlformats.org/drawingml/2006/main">
              <a:ext uri="{FF2B5EF4-FFF2-40B4-BE49-F238E27FC236}">
                <a16:creationId xmlns:a16="http://schemas.microsoft.com/office/drawing/2014/main" id="{79758FF5-1690-4B84-8F84-9677C0A8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3800"/>
            <a:ext cx="285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rch-note">
            <a:extLst xmlns:a="http://schemas.openxmlformats.org/drawingml/2006/main">
              <a:ext uri="{FF2B5EF4-FFF2-40B4-BE49-F238E27FC236}">
                <a16:creationId xmlns:a16="http://schemas.microsoft.com/office/drawing/2014/main" id="{ABCB00E8-357D-489F-ADE3-5F802D18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开发模式需要 API、Worker、Vue 三个进程；生产模式由 FastAPI 托管已构建前端。</a:t>
            </a:r>
          </a:p>
        </p:txBody>
      </p:sp>
    </p:spTree>
    <p:extLst>
      <p:ext uri="{BB962C8B-B14F-4D97-AF65-F5344CB8AC3E}">
        <p14:creationId xmlns:p14="http://schemas.microsoft.com/office/powerpoint/2010/main" val="17697093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B92CDD31-F60F-42A6-B396-7A1F09FD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同一套工作流，三种操作面</a:t>
            </a:r>
          </a:p>
        </p:txBody>
      </p:sp>
      <p:sp>
        <p:nvSpPr>
          <p:cNvPr id="2" name="subtitle-7">
            <a:extLst xmlns:a="http://schemas.openxmlformats.org/drawingml/2006/main">
              <a:ext uri="{FF2B5EF4-FFF2-40B4-BE49-F238E27FC236}">
                <a16:creationId xmlns:a16="http://schemas.microsoft.com/office/drawing/2014/main" id="{08FD4B12-940C-469A-B494-E63B4062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Web、API 和 CLI 都围绕同一份 ProjectState 与工件版本工作。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4A0EA086-334C-4E67-ADC1-F84C7F14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2E4FB126-ED1F-442D-A35F-F662787C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Interfaces</a:t>
            </a:r>
          </a:p>
        </p:txBody>
      </p:sp>
      <p:sp>
        <p:nvSpPr>
          <p:cNvPr id="5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C80F995-A428-49DC-A332-675FD8A9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6" name="surface-card-0">
            <a:extLst xmlns:a="http://schemas.openxmlformats.org/drawingml/2006/main">
              <a:ext uri="{FF2B5EF4-FFF2-40B4-BE49-F238E27FC236}">
                <a16:creationId xmlns:a16="http://schemas.microsoft.com/office/drawing/2014/main" id="{F8B88B30-6B95-4D5C-847B-9FFFEBC7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429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urface-card-title-0">
            <a:extLst xmlns:a="http://schemas.openxmlformats.org/drawingml/2006/main">
              <a:ext uri="{FF2B5EF4-FFF2-40B4-BE49-F238E27FC236}">
                <a16:creationId xmlns:a16="http://schemas.microsoft.com/office/drawing/2014/main" id="{14EA50F7-55C4-407A-BB01-2774AA04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 管理台</a:t>
            </a:r>
          </a:p>
        </p:txBody>
      </p:sp>
      <p:sp>
        <p:nvSpPr>
          <p:cNvPr id="8" name="surface-card-subtitle-0">
            <a:extLst xmlns:a="http://schemas.openxmlformats.org/drawingml/2006/main">
              <a:ext uri="{FF2B5EF4-FFF2-40B4-BE49-F238E27FC236}">
                <a16:creationId xmlns:a16="http://schemas.microsoft.com/office/drawing/2014/main" id="{9A9099DF-A78C-42A2-BE85-6BF8FD71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给产品和业务方使用</a:t>
            </a:r>
          </a:p>
        </p:txBody>
      </p:sp>
      <p:sp>
        <p:nvSpPr>
          <p:cNvPr id="9" name="surface-card-rule-0">
            <a:extLst xmlns:a="http://schemas.openxmlformats.org/drawingml/2006/main">
              <a:ext uri="{FF2B5EF4-FFF2-40B4-BE49-F238E27FC236}">
                <a16:creationId xmlns:a16="http://schemas.microsoft.com/office/drawing/2014/main" id="{1A98A4E8-23B4-4DA4-8AFC-D3A9C48E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rface-card-list-0">
            <a:extLst xmlns:a="http://schemas.openxmlformats.org/drawingml/2006/main">
              <a:ext uri="{FF2B5EF4-FFF2-40B4-BE49-F238E27FC236}">
                <a16:creationId xmlns:a16="http://schemas.microsoft.com/office/drawing/2014/main" id="{F159D488-D41D-4666-9283-5DB32BAC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创建项目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确认阶段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配置 LLM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导出 PRD/SDD</a:t>
            </a:r>
          </a:p>
        </p:txBody>
      </p:sp>
      <p:sp>
        <p:nvSpPr>
          <p:cNvPr id="11" name="surface-card-best-0">
            <a:extLst xmlns:a="http://schemas.openxmlformats.org/drawingml/2006/main">
              <a:ext uri="{FF2B5EF4-FFF2-40B4-BE49-F238E27FC236}">
                <a16:creationId xmlns:a16="http://schemas.microsoft.com/office/drawing/2014/main" id="{DC7FC029-7AF3-4DB7-BA51-2842D7D6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适合：日常协作与人工门禁</a:t>
            </a:r>
          </a:p>
        </p:txBody>
      </p:sp>
      <p:sp>
        <p:nvSpPr>
          <p:cNvPr id="12" name="surface-card-1">
            <a:extLst xmlns:a="http://schemas.openxmlformats.org/drawingml/2006/main">
              <a:ext uri="{FF2B5EF4-FFF2-40B4-BE49-F238E27FC236}">
                <a16:creationId xmlns:a16="http://schemas.microsoft.com/office/drawing/2014/main" id="{1FBA2B3A-9B8E-4AD2-9A87-A504EE09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429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urface-card-title-1">
            <a:extLst xmlns:a="http://schemas.openxmlformats.org/drawingml/2006/main">
              <a:ext uri="{FF2B5EF4-FFF2-40B4-BE49-F238E27FC236}">
                <a16:creationId xmlns:a16="http://schemas.microsoft.com/office/drawing/2014/main" id="{60D9060F-01D9-4E39-A0F1-52290BEF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14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</a:t>
            </a:r>
          </a:p>
        </p:txBody>
      </p:sp>
      <p:sp>
        <p:nvSpPr>
          <p:cNvPr id="14" name="surface-card-subtitle-1">
            <a:extLst xmlns:a="http://schemas.openxmlformats.org/drawingml/2006/main">
              <a:ext uri="{FF2B5EF4-FFF2-40B4-BE49-F238E27FC236}">
                <a16:creationId xmlns:a16="http://schemas.microsoft.com/office/drawing/2014/main" id="{7C2FEE0E-2552-439A-9BEC-D968DFD2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给前端和内部系统集成</a:t>
            </a:r>
          </a:p>
        </p:txBody>
      </p:sp>
      <p:sp>
        <p:nvSpPr>
          <p:cNvPr id="15" name="surface-card-rule-1">
            <a:extLst xmlns:a="http://schemas.openxmlformats.org/drawingml/2006/main">
              <a:ext uri="{FF2B5EF4-FFF2-40B4-BE49-F238E27FC236}">
                <a16:creationId xmlns:a16="http://schemas.microsoft.com/office/drawing/2014/main" id="{EA2D6F67-DF6F-4529-B429-CC111B43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623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urface-card-list-1">
            <a:extLst xmlns:a="http://schemas.openxmlformats.org/drawingml/2006/main">
              <a:ext uri="{FF2B5EF4-FFF2-40B4-BE49-F238E27FC236}">
                <a16:creationId xmlns:a16="http://schemas.microsoft.com/office/drawing/2014/main" id="{3373BF8A-8C1B-4ED3-A64C-052A45DC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671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Cookie 认证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项目管理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任务状态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• 工件导出</a:t>
            </a:r>
          </a:p>
        </p:txBody>
      </p:sp>
      <p:sp>
        <p:nvSpPr>
          <p:cNvPr id="17" name="surface-card-best-1">
            <a:extLst xmlns:a="http://schemas.openxmlformats.org/drawingml/2006/main">
              <a:ext uri="{FF2B5EF4-FFF2-40B4-BE49-F238E27FC236}">
                <a16:creationId xmlns:a16="http://schemas.microsoft.com/office/drawing/2014/main" id="{CEF71212-060C-4EB0-8740-FDD41755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10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适合：平台化接入</a:t>
            </a:r>
          </a:p>
        </p:txBody>
      </p:sp>
      <p:sp>
        <p:nvSpPr>
          <p:cNvPr id="18" name="surface-card-2">
            <a:extLst xmlns:a="http://schemas.openxmlformats.org/drawingml/2006/main">
              <a:ext uri="{FF2B5EF4-FFF2-40B4-BE49-F238E27FC236}">
                <a16:creationId xmlns:a16="http://schemas.microsoft.com/office/drawing/2014/main" id="{ADA80054-7E08-48F9-B00C-82AE1262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34290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urface-card-title-2">
            <a:extLst xmlns:a="http://schemas.openxmlformats.org/drawingml/2006/main">
              <a:ext uri="{FF2B5EF4-FFF2-40B4-BE49-F238E27FC236}">
                <a16:creationId xmlns:a16="http://schemas.microsoft.com/office/drawing/2014/main" id="{E181D06C-45AC-4526-8634-731E4884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Typer CLI</a:t>
            </a:r>
          </a:p>
        </p:txBody>
      </p:sp>
      <p:sp>
        <p:nvSpPr>
          <p:cNvPr id="20" name="surface-card-subtitle-2">
            <a:extLst xmlns:a="http://schemas.openxmlformats.org/drawingml/2006/main">
              <a:ext uri="{FF2B5EF4-FFF2-40B4-BE49-F238E27FC236}">
                <a16:creationId xmlns:a16="http://schemas.microsoft.com/office/drawing/2014/main" id="{1C18A0AD-6548-4E70-836E-E4B0239B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给开发者和脚本使用</a:t>
            </a:r>
          </a:p>
        </p:txBody>
      </p:sp>
      <p:sp>
        <p:nvSpPr>
          <p:cNvPr id="21" name="surface-card-rule-2">
            <a:extLst xmlns:a="http://schemas.openxmlformats.org/drawingml/2006/main">
              <a:ext uri="{FF2B5EF4-FFF2-40B4-BE49-F238E27FC236}">
                <a16:creationId xmlns:a16="http://schemas.microsoft.com/office/drawing/2014/main" id="{FC6FEB62-D616-4243-B7EF-850F787A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62350"/>
            <a:ext cx="297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urface-card-list-2">
            <a:extLst xmlns:a="http://schemas.openxmlformats.org/drawingml/2006/main">
              <a:ext uri="{FF2B5EF4-FFF2-40B4-BE49-F238E27FC236}">
                <a16:creationId xmlns:a16="http://schemas.microsoft.com/office/drawing/2014/main" id="{37E6C045-8B05-491A-94E4-1E94961A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new / resume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status / export</a:t>
            </a:r>
          </a:p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api / worker</a:t>
            </a:r>
          </a:p>
        </p:txBody>
      </p:sp>
      <p:sp>
        <p:nvSpPr>
          <p:cNvPr id="23" name="surface-card-best-2">
            <a:extLst xmlns:a="http://schemas.openxmlformats.org/drawingml/2006/main">
              <a:ext uri="{FF2B5EF4-FFF2-40B4-BE49-F238E27FC236}">
                <a16:creationId xmlns:a16="http://schemas.microsoft.com/office/drawing/2014/main" id="{B89F5DC3-4BE3-4EDC-8E5E-395AFEF8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10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适合：本地调试与自动化</a:t>
            </a:r>
          </a:p>
        </p:txBody>
      </p:sp>
      <p:sp>
        <p:nvSpPr>
          <p:cNvPr id="24" name="surface-shared-state">
            <a:extLst xmlns:a="http://schemas.openxmlformats.org/drawingml/2006/main">
              <a:ext uri="{FF2B5EF4-FFF2-40B4-BE49-F238E27FC236}">
                <a16:creationId xmlns:a16="http://schemas.microsoft.com/office/drawing/2014/main" id="{62B3DBD9-97E8-48F0-AE5A-C6885AE8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共同底座：ProjectState、工件版本、审计事件、MySQL 任务队列。</a:t>
            </a:r>
          </a:p>
        </p:txBody>
      </p:sp>
    </p:spTree>
    <p:extLst>
      <p:ext uri="{BB962C8B-B14F-4D97-AF65-F5344CB8AC3E}">
        <p14:creationId xmlns:p14="http://schemas.microsoft.com/office/powerpoint/2010/main" val="9510150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02A4ABBD-B62B-4526-8B35-765547CF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数据模型让需求可追溯</a:t>
            </a:r>
          </a:p>
        </p:txBody>
      </p:sp>
      <p:sp>
        <p:nvSpPr>
          <p:cNvPr id="2" name="subtitle-8">
            <a:extLst xmlns:a="http://schemas.openxmlformats.org/drawingml/2006/main">
              <a:ext uri="{FF2B5EF4-FFF2-40B4-BE49-F238E27FC236}">
                <a16:creationId xmlns:a16="http://schemas.microsoft.com/office/drawing/2014/main" id="{D5EEDF48-CB10-41F5-836B-30FC1E53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ProjectState 保存阶段、状态、轮次、问题、审批、工件版本和审计事件。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4F4FBE61-4E22-436A-9BC1-7A49894A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5622CFE6-E729-43E3-A889-B0FEC330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Data model</a:t>
            </a:r>
          </a:p>
        </p:txBody>
      </p:sp>
      <p:sp>
        <p:nvSpPr>
          <p:cNvPr id="5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75A59019-6F6B-48A7-B1E3-96C53A84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6" name="data-chart-frame">
            <a:extLst xmlns:a="http://schemas.openxmlformats.org/drawingml/2006/main">
              <a:ext uri="{FF2B5EF4-FFF2-40B4-BE49-F238E27FC236}">
                <a16:creationId xmlns:a16="http://schemas.microsoft.com/office/drawing/2014/main" id="{79BCCDC9-B3CD-4503-AD51-0D543C55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2197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23900" y="2495550"/>
          <a:ext xmlns:a="http://schemas.openxmlformats.org/drawingml/2006/main" cx="46101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9ca434c7c4484e"/>
          </a:graphicData>
        </a:graphic>
      </p:graphicFrame>
      <p:sp>
        <p:nvSpPr>
          <p:cNvPr id="8" name="data-object-0">
            <a:extLst xmlns:a="http://schemas.openxmlformats.org/drawingml/2006/main">
              <a:ext uri="{FF2B5EF4-FFF2-40B4-BE49-F238E27FC236}">
                <a16:creationId xmlns:a16="http://schemas.microsoft.com/office/drawing/2014/main" id="{A45972DB-F24B-4018-891B-11268C08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573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data-object-title-0">
            <a:extLst xmlns:a="http://schemas.openxmlformats.org/drawingml/2006/main">
              <a:ext uri="{FF2B5EF4-FFF2-40B4-BE49-F238E27FC236}">
                <a16:creationId xmlns:a16="http://schemas.microsoft.com/office/drawing/2014/main" id="{73F09D73-7B79-486A-BA07-29EBF24D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RequirementSpec</a:t>
            </a:r>
          </a:p>
        </p:txBody>
      </p:sp>
      <p:sp>
        <p:nvSpPr>
          <p:cNvPr id="10" name="data-object-body-0">
            <a:extLst xmlns:a="http://schemas.openxmlformats.org/drawingml/2006/main">
              <a:ext uri="{FF2B5EF4-FFF2-40B4-BE49-F238E27FC236}">
                <a16:creationId xmlns:a16="http://schemas.microsoft.com/office/drawing/2014/main" id="{E80BC9F4-E7E0-4546-BB3C-9BF0005A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模块、特性、数据来源、交互、影响、依赖、规则、假设。</a:t>
            </a:r>
          </a:p>
        </p:txBody>
      </p:sp>
      <p:sp>
        <p:nvSpPr>
          <p:cNvPr id="11" name="data-object-1">
            <a:extLst xmlns:a="http://schemas.openxmlformats.org/drawingml/2006/main">
              <a:ext uri="{FF2B5EF4-FFF2-40B4-BE49-F238E27FC236}">
                <a16:creationId xmlns:a16="http://schemas.microsoft.com/office/drawing/2014/main" id="{E296C234-E476-480E-9787-B40E4241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19400"/>
            <a:ext cx="573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data-object-title-1">
            <a:extLst xmlns:a="http://schemas.openxmlformats.org/drawingml/2006/main">
              <a:ext uri="{FF2B5EF4-FFF2-40B4-BE49-F238E27FC236}">
                <a16:creationId xmlns:a16="http://schemas.microsoft.com/office/drawing/2014/main" id="{3573DD11-9387-49FE-8D3C-D5477E04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ClarificationQuestion</a:t>
            </a:r>
          </a:p>
        </p:txBody>
      </p:sp>
      <p:sp>
        <p:nvSpPr>
          <p:cNvPr id="13" name="data-object-body-1">
            <a:extLst xmlns:a="http://schemas.openxmlformats.org/drawingml/2006/main">
              <a:ext uri="{FF2B5EF4-FFF2-40B4-BE49-F238E27FC236}">
                <a16:creationId xmlns:a16="http://schemas.microsoft.com/office/drawing/2014/main" id="{3708B114-2136-4A3B-A7B4-EEC3E7A7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Q-001 形式编号，记录问题类型、重要性、状态和答案。</a:t>
            </a:r>
          </a:p>
        </p:txBody>
      </p:sp>
      <p:sp>
        <p:nvSpPr>
          <p:cNvPr id="14" name="data-object-2">
            <a:extLst xmlns:a="http://schemas.openxmlformats.org/drawingml/2006/main">
              <a:ext uri="{FF2B5EF4-FFF2-40B4-BE49-F238E27FC236}">
                <a16:creationId xmlns:a16="http://schemas.microsoft.com/office/drawing/2014/main" id="{CC8D7842-E513-4AD1-97D7-B6CA2AA2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573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data-object-title-2">
            <a:extLst xmlns:a="http://schemas.openxmlformats.org/drawingml/2006/main">
              <a:ext uri="{FF2B5EF4-FFF2-40B4-BE49-F238E27FC236}">
                <a16:creationId xmlns:a16="http://schemas.microsoft.com/office/drawing/2014/main" id="{FF8F602B-7FAE-40AE-8497-9755A3F8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LogicIssue</a:t>
            </a:r>
          </a:p>
        </p:txBody>
      </p:sp>
      <p:sp>
        <p:nvSpPr>
          <p:cNvPr id="16" name="data-object-body-2">
            <a:extLst xmlns:a="http://schemas.openxmlformats.org/drawingml/2006/main">
              <a:ext uri="{FF2B5EF4-FFF2-40B4-BE49-F238E27FC236}">
                <a16:creationId xmlns:a16="http://schemas.microsoft.com/office/drawing/2014/main" id="{1500E83F-A6DD-444A-9746-5F11D566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L-001 形式编号，区分 blocking / important / suggestion。</a:t>
            </a:r>
          </a:p>
        </p:txBody>
      </p:sp>
      <p:sp>
        <p:nvSpPr>
          <p:cNvPr id="17" name="data-object-3">
            <a:extLst xmlns:a="http://schemas.openxmlformats.org/drawingml/2006/main">
              <a:ext uri="{FF2B5EF4-FFF2-40B4-BE49-F238E27FC236}">
                <a16:creationId xmlns:a16="http://schemas.microsoft.com/office/drawing/2014/main" id="{208BF1D9-87EA-45D1-8507-E7DB981E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573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data-object-title-3">
            <a:extLst xmlns:a="http://schemas.openxmlformats.org/drawingml/2006/main">
              <a:ext uri="{FF2B5EF4-FFF2-40B4-BE49-F238E27FC236}">
                <a16:creationId xmlns:a16="http://schemas.microsoft.com/office/drawing/2014/main" id="{201202AD-7DCC-4F25-8414-B166197E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62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ArtifactVersion</a:t>
            </a:r>
          </a:p>
        </p:txBody>
      </p:sp>
      <p:sp>
        <p:nvSpPr>
          <p:cNvPr id="19" name="data-object-body-3">
            <a:extLst xmlns:a="http://schemas.openxmlformats.org/drawingml/2006/main">
              <a:ext uri="{FF2B5EF4-FFF2-40B4-BE49-F238E27FC236}">
                <a16:creationId xmlns:a16="http://schemas.microsoft.com/office/drawing/2014/main" id="{85185853-864C-4091-A02A-457DC6EC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PRD、PRD Review、SDD 按版本保存，便于导出与回溯。</a:t>
            </a:r>
          </a:p>
        </p:txBody>
      </p:sp>
      <p:sp>
        <p:nvSpPr>
          <p:cNvPr id="20" name="data-object-4">
            <a:extLst xmlns:a="http://schemas.openxmlformats.org/drawingml/2006/main">
              <a:ext uri="{FF2B5EF4-FFF2-40B4-BE49-F238E27FC236}">
                <a16:creationId xmlns:a16="http://schemas.microsoft.com/office/drawing/2014/main" id="{4F23B3AE-70F5-4872-8EE0-98231A6B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91100"/>
            <a:ext cx="5734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data-object-title-4">
            <a:extLst xmlns:a="http://schemas.openxmlformats.org/drawingml/2006/main">
              <a:ext uri="{FF2B5EF4-FFF2-40B4-BE49-F238E27FC236}">
                <a16:creationId xmlns:a16="http://schemas.microsoft.com/office/drawing/2014/main" id="{EBF8A2B1-130A-4C17-A1FE-F3A48DC2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863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AuditEvent</a:t>
            </a:r>
          </a:p>
        </p:txBody>
      </p:sp>
      <p:sp>
        <p:nvSpPr>
          <p:cNvPr id="22" name="data-object-body-4">
            <a:extLst xmlns:a="http://schemas.openxmlformats.org/drawingml/2006/main">
              <a:ext uri="{FF2B5EF4-FFF2-40B4-BE49-F238E27FC236}">
                <a16:creationId xmlns:a16="http://schemas.microsoft.com/office/drawing/2014/main" id="{3FE19B1E-568E-4762-A7FD-5B24455C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86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记录项目创建、阶段推进、失败、回退和豁免。</a:t>
            </a:r>
          </a:p>
        </p:txBody>
      </p:sp>
    </p:spTree>
    <p:extLst>
      <p:ext uri="{BB962C8B-B14F-4D97-AF65-F5344CB8AC3E}">
        <p14:creationId xmlns:p14="http://schemas.microsoft.com/office/powerpoint/2010/main" val="6378237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85B23823-7082-4D0D-953E-A3943ED7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启动路径围绕数据库、API、Worker、前端展开</a:t>
            </a:r>
          </a:p>
        </p:txBody>
      </p:sp>
      <p:sp>
        <p:nvSpPr>
          <p:cNvPr id="2" name="subtitle-9">
            <a:extLst xmlns:a="http://schemas.openxmlformats.org/drawingml/2006/main">
              <a:ext uri="{FF2B5EF4-FFF2-40B4-BE49-F238E27FC236}">
                <a16:creationId xmlns:a16="http://schemas.microsoft.com/office/drawing/2014/main" id="{C1B11199-7CCD-46AA-8490-2E8DC536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本地开发强调三进程协作；生产构建后前端由 API 静态托管。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D579B293-BC27-45EF-BE1F-3A10945B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0BE88699-DD64-4CD1-B3D1-5160109D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Runbook</a:t>
            </a:r>
          </a:p>
        </p:txBody>
      </p:sp>
      <p:sp>
        <p:nvSpPr>
          <p:cNvPr id="5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99295FA-41AE-4433-8B36-06A92C6D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6" name="ops-step-0">
            <a:extLst xmlns:a="http://schemas.openxmlformats.org/drawingml/2006/main">
              <a:ext uri="{FF2B5EF4-FFF2-40B4-BE49-F238E27FC236}">
                <a16:creationId xmlns:a16="http://schemas.microsoft.com/office/drawing/2014/main" id="{24A75BE6-FA9D-4268-A314-0AEAC8AF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952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ops-num-0">
            <a:extLst xmlns:a="http://schemas.openxmlformats.org/drawingml/2006/main">
              <a:ext uri="{FF2B5EF4-FFF2-40B4-BE49-F238E27FC236}">
                <a16:creationId xmlns:a16="http://schemas.microsoft.com/office/drawing/2014/main" id="{173E0D46-78AA-4C1E-AD25-38BEF6F6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ops-title-0">
            <a:extLst xmlns:a="http://schemas.openxmlformats.org/drawingml/2006/main">
              <a:ext uri="{FF2B5EF4-FFF2-40B4-BE49-F238E27FC236}">
                <a16:creationId xmlns:a16="http://schemas.microsoft.com/office/drawing/2014/main" id="{83B02748-4E94-4F2B-BBF5-DE52D1A8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配置</a:t>
            </a:r>
          </a:p>
        </p:txBody>
      </p:sp>
      <p:sp>
        <p:nvSpPr>
          <p:cNvPr id="9" name="ops-body-0">
            <a:extLst xmlns:a="http://schemas.openxmlformats.org/drawingml/2006/main">
              <a:ext uri="{FF2B5EF4-FFF2-40B4-BE49-F238E27FC236}">
                <a16:creationId xmlns:a16="http://schemas.microsoft.com/office/drawing/2014/main" id="{A86C5828-291D-4D87-944F-DD34F52F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复制 .env，写入 LLM 与 MySQL 连接。</a:t>
            </a:r>
          </a:p>
        </p:txBody>
      </p:sp>
      <p:sp>
        <p:nvSpPr>
          <p:cNvPr id="10" name="ops-step-1">
            <a:extLst xmlns:a="http://schemas.openxmlformats.org/drawingml/2006/main">
              <a:ext uri="{FF2B5EF4-FFF2-40B4-BE49-F238E27FC236}">
                <a16:creationId xmlns:a16="http://schemas.microsoft.com/office/drawing/2014/main" id="{82F12634-747F-4BB3-BEFF-6879968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00300"/>
            <a:ext cx="1952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ops-num-1">
            <a:extLst xmlns:a="http://schemas.openxmlformats.org/drawingml/2006/main">
              <a:ext uri="{FF2B5EF4-FFF2-40B4-BE49-F238E27FC236}">
                <a16:creationId xmlns:a16="http://schemas.microsoft.com/office/drawing/2014/main" id="{556EF7D8-D1FE-4080-AB46-3A1F4A59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0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ops-title-1">
            <a:extLst xmlns:a="http://schemas.openxmlformats.org/drawingml/2006/main">
              <a:ext uri="{FF2B5EF4-FFF2-40B4-BE49-F238E27FC236}">
                <a16:creationId xmlns:a16="http://schemas.microsoft.com/office/drawing/2014/main" id="{FA48B003-864D-4726-B555-A4486764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迁移</a:t>
            </a:r>
          </a:p>
        </p:txBody>
      </p:sp>
      <p:sp>
        <p:nvSpPr>
          <p:cNvPr id="13" name="ops-body-1">
            <a:extLst xmlns:a="http://schemas.openxmlformats.org/drawingml/2006/main">
              <a:ext uri="{FF2B5EF4-FFF2-40B4-BE49-F238E27FC236}">
                <a16:creationId xmlns:a16="http://schemas.microsoft.com/office/drawing/2014/main" id="{3375491E-FD31-455C-B2C8-23DCEF75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7147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uv run prd-agent db-upgrade</a:t>
            </a:r>
          </a:p>
        </p:txBody>
      </p:sp>
      <p:sp>
        <p:nvSpPr>
          <p:cNvPr id="14" name="ops-step-2">
            <a:extLst xmlns:a="http://schemas.openxmlformats.org/drawingml/2006/main">
              <a:ext uri="{FF2B5EF4-FFF2-40B4-BE49-F238E27FC236}">
                <a16:creationId xmlns:a16="http://schemas.microsoft.com/office/drawing/2014/main" id="{6638A59C-8040-461A-9107-87F22D32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952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ops-num-2">
            <a:extLst xmlns:a="http://schemas.openxmlformats.org/drawingml/2006/main">
              <a:ext uri="{FF2B5EF4-FFF2-40B4-BE49-F238E27FC236}">
                <a16:creationId xmlns:a16="http://schemas.microsoft.com/office/drawing/2014/main" id="{E2BED352-93C7-4353-8821-5EE6FF7D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ops-title-2">
            <a:extLst xmlns:a="http://schemas.openxmlformats.org/drawingml/2006/main">
              <a:ext uri="{FF2B5EF4-FFF2-40B4-BE49-F238E27FC236}">
                <a16:creationId xmlns:a16="http://schemas.microsoft.com/office/drawing/2014/main" id="{FC227B2D-DD0A-4959-AF72-018CC04A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7" name="ops-body-2">
            <a:extLst xmlns:a="http://schemas.openxmlformats.org/drawingml/2006/main">
              <a:ext uri="{FF2B5EF4-FFF2-40B4-BE49-F238E27FC236}">
                <a16:creationId xmlns:a16="http://schemas.microsoft.com/office/drawing/2014/main" id="{CEFB4EEE-D239-4D70-A28C-8A3F5894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147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uv run prd-agent api</a:t>
            </a:r>
          </a:p>
        </p:txBody>
      </p:sp>
      <p:sp>
        <p:nvSpPr>
          <p:cNvPr id="18" name="ops-step-3">
            <a:extLst xmlns:a="http://schemas.openxmlformats.org/drawingml/2006/main">
              <a:ext uri="{FF2B5EF4-FFF2-40B4-BE49-F238E27FC236}">
                <a16:creationId xmlns:a16="http://schemas.microsoft.com/office/drawing/2014/main" id="{E849E437-03D4-45DB-A411-A684DFE0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00300"/>
            <a:ext cx="1952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ops-num-3">
            <a:extLst xmlns:a="http://schemas.openxmlformats.org/drawingml/2006/main">
              <a:ext uri="{FF2B5EF4-FFF2-40B4-BE49-F238E27FC236}">
                <a16:creationId xmlns:a16="http://schemas.microsoft.com/office/drawing/2014/main" id="{319FC18A-E45B-41D7-AB34-1D5A94C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60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ops-title-3">
            <a:extLst xmlns:a="http://schemas.openxmlformats.org/drawingml/2006/main">
              <a:ext uri="{FF2B5EF4-FFF2-40B4-BE49-F238E27FC236}">
                <a16:creationId xmlns:a16="http://schemas.microsoft.com/office/drawing/2014/main" id="{A16CF899-F285-464A-8696-45566EA2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Worker</a:t>
            </a:r>
          </a:p>
        </p:txBody>
      </p:sp>
      <p:sp>
        <p:nvSpPr>
          <p:cNvPr id="21" name="ops-body-3">
            <a:extLst xmlns:a="http://schemas.openxmlformats.org/drawingml/2006/main">
              <a:ext uri="{FF2B5EF4-FFF2-40B4-BE49-F238E27FC236}">
                <a16:creationId xmlns:a16="http://schemas.microsoft.com/office/drawing/2014/main" id="{8B2ED0AC-5541-40D3-A404-40CFAFBA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7147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uv run prd-agent worker</a:t>
            </a:r>
          </a:p>
        </p:txBody>
      </p:sp>
      <p:sp>
        <p:nvSpPr>
          <p:cNvPr id="22" name="ops-step-4">
            <a:extLst xmlns:a="http://schemas.openxmlformats.org/drawingml/2006/main">
              <a:ext uri="{FF2B5EF4-FFF2-40B4-BE49-F238E27FC236}">
                <a16:creationId xmlns:a16="http://schemas.microsoft.com/office/drawing/2014/main" id="{EC286880-7462-4F4C-8F60-DDF9022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00300"/>
            <a:ext cx="1952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ops-num-4">
            <a:extLst xmlns:a="http://schemas.openxmlformats.org/drawingml/2006/main">
              <a:ext uri="{FF2B5EF4-FFF2-40B4-BE49-F238E27FC236}">
                <a16:creationId xmlns:a16="http://schemas.microsoft.com/office/drawing/2014/main" id="{A9DD3863-C02E-450F-AF3A-BD0FF1A2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4" name="ops-title-4">
            <a:extLst xmlns:a="http://schemas.openxmlformats.org/drawingml/2006/main">
              <a:ext uri="{FF2B5EF4-FFF2-40B4-BE49-F238E27FC236}">
                <a16:creationId xmlns:a16="http://schemas.microsoft.com/office/drawing/2014/main" id="{D3CC5526-D485-4E07-B3CF-5632F99B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</a:t>
            </a:r>
          </a:p>
        </p:txBody>
      </p:sp>
      <p:sp>
        <p:nvSpPr>
          <p:cNvPr id="25" name="ops-body-4">
            <a:extLst xmlns:a="http://schemas.openxmlformats.org/drawingml/2006/main">
              <a:ext uri="{FF2B5EF4-FFF2-40B4-BE49-F238E27FC236}">
                <a16:creationId xmlns:a16="http://schemas.microsoft.com/office/drawing/2014/main" id="{1728FD9E-9623-4669-9E18-0D5E5353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1475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cd web &amp;&amp; pnpm dev</a:t>
            </a:r>
          </a:p>
        </p:txBody>
      </p:sp>
      <p:sp>
        <p:nvSpPr>
          <p:cNvPr id="26" name="ops-prod">
            <a:extLst xmlns:a="http://schemas.openxmlformats.org/drawingml/2006/main">
              <a:ext uri="{FF2B5EF4-FFF2-40B4-BE49-F238E27FC236}">
                <a16:creationId xmlns:a16="http://schemas.microsoft.com/office/drawing/2014/main" id="{7A22C0B9-A692-4651-A750-1C0114A0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生产模式：先 `cd web &amp;&amp; pnpm build`，再启动 API 与 Worker；访问 API 服务地址即可使用管理台。</a:t>
            </a:r>
          </a:p>
        </p:txBody>
      </p:sp>
    </p:spTree>
    <p:extLst>
      <p:ext uri="{BB962C8B-B14F-4D97-AF65-F5344CB8AC3E}">
        <p14:creationId xmlns:p14="http://schemas.microsoft.com/office/powerpoint/2010/main" val="16290805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44E89CFC-59C1-4A52-A580-0F3E93B5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落地价值：把“文档生成”升级成“需求治理”</a:t>
            </a:r>
          </a:p>
        </p:txBody>
      </p:sp>
      <p:sp>
        <p:nvSpPr>
          <p:cNvPr id="2" name="subtitle-10">
            <a:extLst xmlns:a="http://schemas.openxmlformats.org/drawingml/2006/main">
              <a:ext uri="{FF2B5EF4-FFF2-40B4-BE49-F238E27FC236}">
                <a16:creationId xmlns:a16="http://schemas.microsoft.com/office/drawing/2014/main" id="{80280F5C-A18C-4C7F-903C-FC1E53A4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PRD Agent 的重点不是一次性输出，而是让需求推进、审查和交付都可控。</a:t>
            </a:r>
          </a:p>
        </p:txBody>
      </p:sp>
      <p:sp>
        <p:nvSpPr>
          <p:cNvPr id="3" name="title-rule-10">
            <a:extLst xmlns:a="http://schemas.openxmlformats.org/drawingml/2006/main">
              <a:ext uri="{FF2B5EF4-FFF2-40B4-BE49-F238E27FC236}">
                <a16:creationId xmlns:a16="http://schemas.microsoft.com/office/drawing/2014/main" id="{923B8AAD-CC79-48A2-8A08-98A08CB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3A5965DE-3045-47CD-BFE1-B8E69ED0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Takeaways</a:t>
            </a:r>
          </a:p>
        </p:txBody>
      </p:sp>
      <p:sp>
        <p:nvSpPr>
          <p:cNvPr id="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7C6F5C2-02D8-4D04-BD0E-CFDD160B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1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6" name="outcome-main">
            <a:extLst xmlns:a="http://schemas.openxmlformats.org/drawingml/2006/main">
              <a:ext uri="{FF2B5EF4-FFF2-40B4-BE49-F238E27FC236}">
                <a16:creationId xmlns:a16="http://schemas.microsoft.com/office/drawing/2014/main" id="{5F32CE32-A047-41A9-9DF7-D5E86503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适合用在需要强确认、强追溯、强审查的产品需求流程。</a:t>
            </a:r>
          </a:p>
        </p:txBody>
      </p:sp>
      <p:sp>
        <p:nvSpPr>
          <p:cNvPr id="7" name="outcome-bullets">
            <a:extLst xmlns:a="http://schemas.openxmlformats.org/drawingml/2006/main">
              <a:ext uri="{FF2B5EF4-FFF2-40B4-BE49-F238E27FC236}">
                <a16:creationId xmlns:a16="http://schemas.microsoft.com/office/drawing/2014/main" id="{2CCC5E33-63C1-4DCC-A15E-D91F21B0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695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需求结构化前置，避免把假设写进 PRD。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人工门禁控制阶段推进，避免 LLM 自主越权。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PRD Writer 与 Reviewer 分离，提高终审质量。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SDD 只来自通过终审的 PRD，减少开发歧义。</a:t>
            </a:r>
          </a:p>
        </p:txBody>
      </p:sp>
      <p:sp>
        <p:nvSpPr>
          <p:cNvPr id="8" name="outcome-next">
            <a:extLst xmlns:a="http://schemas.openxmlformats.org/drawingml/2006/main">
              <a:ext uri="{FF2B5EF4-FFF2-40B4-BE49-F238E27FC236}">
                <a16:creationId xmlns:a16="http://schemas.microsoft.com/office/drawing/2014/main" id="{2C511D81-F971-424C-8632-0F79E15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6004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utcome-next-title">
            <a:extLst xmlns:a="http://schemas.openxmlformats.org/drawingml/2006/main">
              <a:ext uri="{FF2B5EF4-FFF2-40B4-BE49-F238E27FC236}">
                <a16:creationId xmlns:a16="http://schemas.microsoft.com/office/drawing/2014/main" id="{9FD08416-76AD-40C0-8F2D-5851396F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336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建议下一步</a:t>
            </a:r>
          </a:p>
        </p:txBody>
      </p:sp>
      <p:sp>
        <p:nvSpPr>
          <p:cNvPr id="10" name="outcome-next-body">
            <a:extLst xmlns:a="http://schemas.openxmlformats.org/drawingml/2006/main">
              <a:ext uri="{FF2B5EF4-FFF2-40B4-BE49-F238E27FC236}">
                <a16:creationId xmlns:a16="http://schemas.microsoft.com/office/drawing/2014/main" id="{C43DF5EE-DD8D-4D65-A9F3-D370B060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2857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用一个真实需求跑完从 STRUCTURING 到 SDD 的闭环，记录每个门禁点需要业务方确认的材料。</a:t>
            </a:r>
          </a:p>
        </p:txBody>
      </p:sp>
      <p:sp>
        <p:nvSpPr>
          <p:cNvPr id="11" name="outcome-tag">
            <a:extLst xmlns:a="http://schemas.openxmlformats.org/drawingml/2006/main">
              <a:ext uri="{FF2B5EF4-FFF2-40B4-BE49-F238E27FC236}">
                <a16:creationId xmlns:a16="http://schemas.microsoft.com/office/drawing/2014/main" id="{CE839931-BE2D-4649-BF2B-D566A0E5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57800"/>
            <a:ext cx="3600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F0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outcome-tag-text">
            <a:extLst xmlns:a="http://schemas.openxmlformats.org/drawingml/2006/main">
              <a:ext uri="{FF2B5EF4-FFF2-40B4-BE49-F238E27FC236}">
                <a16:creationId xmlns:a16="http://schemas.microsoft.com/office/drawing/2014/main" id="{B83AAB9B-D83E-49DA-838D-AFE291C1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19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rPr>
              <a:t>定位：受控需求工作台</a:t>
            </a:r>
          </a:p>
        </p:txBody>
      </p:sp>
    </p:spTree>
    <p:extLst>
      <p:ext uri="{BB962C8B-B14F-4D97-AF65-F5344CB8AC3E}">
        <p14:creationId xmlns:p14="http://schemas.microsoft.com/office/powerpoint/2010/main" val="1947986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2026-06-26T09:31:28.0290000Z</dcterms:created>
  <dcterms:modified xsi:type="dcterms:W3CDTF">2026-06-26T09:31:28.0290000Z</dcterms:modified>
</coreProperties>
</file>